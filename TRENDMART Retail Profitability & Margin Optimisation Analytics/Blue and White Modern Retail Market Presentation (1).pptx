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nva Sans Medium" charset="1" panose="020B0603030501040103"/>
      <p:regular r:id="rId19"/>
    </p:embeddedFont>
    <p:embeddedFont>
      <p:font typeface="Canva Sans Bold" charset="1" panose="020B0803030501040103"/>
      <p:regular r:id="rId20"/>
    </p:embeddedFont>
    <p:embeddedFont>
      <p:font typeface="Canva Sans Bold Italics" charset="1" panose="020B0803030501040103"/>
      <p:regular r:id="rId21"/>
    </p:embeddedFont>
    <p:embeddedFont>
      <p:font typeface="Anton" charset="1" panose="00000500000000000000"/>
      <p:regular r:id="rId22"/>
    </p:embeddedFont>
    <p:embeddedFont>
      <p:font typeface="Canva Sans" charset="1" panose="020B05030305010401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17772" y="0"/>
            <a:ext cx="8670228" cy="10287000"/>
            <a:chOff x="0" y="0"/>
            <a:chExt cx="228351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3517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83517">
                  <a:moveTo>
                    <a:pt x="0" y="0"/>
                  </a:moveTo>
                  <a:lnTo>
                    <a:pt x="2283517" y="0"/>
                  </a:lnTo>
                  <a:lnTo>
                    <a:pt x="228351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629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351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40452" y="4266180"/>
            <a:ext cx="1754641" cy="175464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29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09914" y="4535642"/>
            <a:ext cx="1215717" cy="121571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C6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074441" y="1028700"/>
            <a:ext cx="6184859" cy="8229600"/>
            <a:chOff x="0" y="0"/>
            <a:chExt cx="1628934" cy="21674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28934" cy="2167467"/>
            </a:xfrm>
            <a:custGeom>
              <a:avLst/>
              <a:gdLst/>
              <a:ahLst/>
              <a:cxnLst/>
              <a:rect r="r" b="b" t="t" l="l"/>
              <a:pathLst>
                <a:path h="2167467" w="1628934">
                  <a:moveTo>
                    <a:pt x="0" y="0"/>
                  </a:moveTo>
                  <a:lnTo>
                    <a:pt x="1628934" y="0"/>
                  </a:lnTo>
                  <a:lnTo>
                    <a:pt x="1628934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28934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595274" y="1605722"/>
            <a:ext cx="5143194" cy="7075557"/>
            <a:chOff x="0" y="0"/>
            <a:chExt cx="786149" cy="10815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6149" cy="1081515"/>
            </a:xfrm>
            <a:custGeom>
              <a:avLst/>
              <a:gdLst/>
              <a:ahLst/>
              <a:cxnLst/>
              <a:rect r="r" b="b" t="t" l="l"/>
              <a:pathLst>
                <a:path h="1081515" w="786149">
                  <a:moveTo>
                    <a:pt x="0" y="0"/>
                  </a:moveTo>
                  <a:lnTo>
                    <a:pt x="786149" y="0"/>
                  </a:lnTo>
                  <a:lnTo>
                    <a:pt x="786149" y="1081515"/>
                  </a:lnTo>
                  <a:lnTo>
                    <a:pt x="0" y="1081515"/>
                  </a:lnTo>
                  <a:close/>
                </a:path>
              </a:pathLst>
            </a:custGeom>
            <a:blipFill>
              <a:blip r:embed="rId2"/>
              <a:stretch>
                <a:fillRect l="0" t="-4517" r="0" b="-4517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121667" y="4647395"/>
            <a:ext cx="992211" cy="992211"/>
          </a:xfrm>
          <a:custGeom>
            <a:avLst/>
            <a:gdLst/>
            <a:ahLst/>
            <a:cxnLst/>
            <a:rect r="r" b="b" t="t" l="l"/>
            <a:pathLst>
              <a:path h="992211" w="992211">
                <a:moveTo>
                  <a:pt x="0" y="0"/>
                </a:moveTo>
                <a:lnTo>
                  <a:pt x="992210" y="0"/>
                </a:lnTo>
                <a:lnTo>
                  <a:pt x="992210" y="992210"/>
                </a:lnTo>
                <a:lnTo>
                  <a:pt x="0" y="9922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9210675"/>
            <a:ext cx="5218586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Presented by</a:t>
            </a:r>
            <a:r>
              <a:rPr lang="en-US" b="true" sz="2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Tobiloba Adeniyi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0" y="458996"/>
            <a:ext cx="9617772" cy="336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45"/>
              </a:lnSpc>
              <a:spcBef>
                <a:spcPct val="0"/>
              </a:spcBef>
            </a:pPr>
            <a:r>
              <a:rPr lang="en-US" b="true" sz="6389" i="true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TRENDMART Retail Profitability &amp; Margin Optimisation Analytics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23995"/>
            <a:ext cx="6797038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>
                <a:solidFill>
                  <a:srgbClr val="16295D"/>
                </a:solidFill>
                <a:latin typeface="Anton"/>
                <a:ea typeface="Anton"/>
                <a:cs typeface="Anton"/>
                <a:sym typeface="Anton"/>
              </a:rPr>
              <a:t>RETAIL MARKET SEGMENTS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5761" y="1269771"/>
            <a:ext cx="2960806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16295D"/>
                </a:solidFill>
                <a:latin typeface="Anton"/>
                <a:ea typeface="Anton"/>
                <a:cs typeface="Anton"/>
                <a:sym typeface="Anton"/>
              </a:rPr>
              <a:t>Trendmart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5975727"/>
            <a:ext cx="8115300" cy="3282573"/>
            <a:chOff x="0" y="0"/>
            <a:chExt cx="1240442" cy="5017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0442" cy="501749"/>
            </a:xfrm>
            <a:custGeom>
              <a:avLst/>
              <a:gdLst/>
              <a:ahLst/>
              <a:cxnLst/>
              <a:rect r="r" b="b" t="t" l="l"/>
              <a:pathLst>
                <a:path h="501749" w="1240442">
                  <a:moveTo>
                    <a:pt x="0" y="0"/>
                  </a:moveTo>
                  <a:lnTo>
                    <a:pt x="1240442" y="0"/>
                  </a:lnTo>
                  <a:lnTo>
                    <a:pt x="1240442" y="501749"/>
                  </a:lnTo>
                  <a:lnTo>
                    <a:pt x="0" y="501749"/>
                  </a:lnTo>
                  <a:close/>
                </a:path>
              </a:pathLst>
            </a:custGeom>
            <a:blipFill>
              <a:blip r:embed="rId2"/>
              <a:stretch>
                <a:fillRect l="0" t="-8304" r="0" b="-5651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567506" y="765668"/>
            <a:ext cx="3990516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Executive Summary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567506" y="2430668"/>
            <a:ext cx="5691794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Product Mix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67506" y="4019470"/>
            <a:ext cx="5691794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Store Performance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5761" y="4190920"/>
            <a:ext cx="7988997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TrendMart specialises in offering affordable, trend-driven clothing and lifestyle products to middle-income households, students, and budget-conscious families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67506" y="5480426"/>
            <a:ext cx="5691794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Market Efficiency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53119" y="6937752"/>
            <a:ext cx="1555254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Insights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67506" y="8528428"/>
            <a:ext cx="3492599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86972" y="0"/>
            <a:ext cx="12878212" cy="7280378"/>
          </a:xfrm>
          <a:custGeom>
            <a:avLst/>
            <a:gdLst/>
            <a:ahLst/>
            <a:cxnLst/>
            <a:rect r="r" b="b" t="t" l="l"/>
            <a:pathLst>
              <a:path h="7280378" w="12878212">
                <a:moveTo>
                  <a:pt x="0" y="0"/>
                </a:moveTo>
                <a:lnTo>
                  <a:pt x="12878212" y="0"/>
                </a:lnTo>
                <a:lnTo>
                  <a:pt x="12878212" y="7280378"/>
                </a:lnTo>
                <a:lnTo>
                  <a:pt x="0" y="7280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6" t="0" r="-127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0401" y="6473854"/>
            <a:ext cx="55149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6295D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397975"/>
            <a:ext cx="4679618" cy="807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📊 Insights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💷 Revenue £12.8M but 📉 costs rising fast (Cost Growth 87%).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🏬 Store S01 leads revenue; others underperform.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🧒 Kidswear = 100% revenue in current filter → category dependency risk.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📈 GP Margin 44% shows strong product profitability.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💸 Operating expe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nses (£21.1M) far exceed revenue → pressure on profit.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📉 Revenue trend declining from the early 2023 peak.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83424" y="7347219"/>
            <a:ext cx="10581760" cy="377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3"/>
              </a:lnSpc>
              <a:spcBef>
                <a:spcPct val="0"/>
              </a:spcBef>
            </a:pPr>
            <a:r>
              <a:rPr lang="en-US" b="true" sz="256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🧭 Recommendations</a:t>
            </a:r>
          </a:p>
          <a:p>
            <a:pPr algn="l">
              <a:lnSpc>
                <a:spcPts val="3453"/>
              </a:lnSpc>
              <a:spcBef>
                <a:spcPct val="0"/>
              </a:spcBef>
            </a:pPr>
          </a:p>
          <a:p>
            <a:pPr algn="l">
              <a:lnSpc>
                <a:spcPts val="3116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🔍 Investigate cost drivers — reduce operating expenses immediately</a:t>
            </a:r>
          </a:p>
          <a:p>
            <a:pPr algn="l">
              <a:lnSpc>
                <a:spcPts val="3116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116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🎯 Diversify categories beyond Kidswear to reduce revenue concentration.</a:t>
            </a:r>
          </a:p>
          <a:p>
            <a:pPr algn="l">
              <a:lnSpc>
                <a:spcPts val="3116"/>
              </a:lnSpc>
              <a:spcBef>
                <a:spcPct val="0"/>
              </a:spcBef>
            </a:pPr>
          </a:p>
          <a:p>
            <a:pPr algn="l">
              <a:lnSpc>
                <a:spcPts val="3116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🚀 Boost high‑performing stores (S01) with targeted marketing</a:t>
            </a:r>
          </a:p>
          <a:p>
            <a:pPr algn="l">
              <a:lnSpc>
                <a:spcPts val="3116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4516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00639" y="9468825"/>
            <a:ext cx="828061" cy="743443"/>
            <a:chOff x="0" y="0"/>
            <a:chExt cx="750828" cy="674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0828" cy="674102"/>
            </a:xfrm>
            <a:custGeom>
              <a:avLst/>
              <a:gdLst/>
              <a:ahLst/>
              <a:cxnLst/>
              <a:rect r="r" b="b" t="t" l="l"/>
              <a:pathLst>
                <a:path h="674102" w="750828">
                  <a:moveTo>
                    <a:pt x="0" y="0"/>
                  </a:moveTo>
                  <a:lnTo>
                    <a:pt x="750828" y="0"/>
                  </a:lnTo>
                  <a:lnTo>
                    <a:pt x="750828" y="674102"/>
                  </a:lnTo>
                  <a:lnTo>
                    <a:pt x="0" y="674102"/>
                  </a:lnTo>
                  <a:close/>
                </a:path>
              </a:pathLst>
            </a:custGeom>
            <a:blipFill>
              <a:blip r:embed="rId3"/>
              <a:stretch>
                <a:fillRect l="-17335" t="0" r="-17335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50401" y="9783397"/>
            <a:ext cx="2132857" cy="50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  <a:spcBef>
                <a:spcPct val="0"/>
              </a:spcBef>
            </a:pPr>
            <a:r>
              <a:rPr lang="en-US" sz="2953">
                <a:solidFill>
                  <a:srgbClr val="16295D"/>
                </a:solidFill>
                <a:latin typeface="Anton"/>
                <a:ea typeface="Anton"/>
                <a:cs typeface="Anton"/>
                <a:sym typeface="Anton"/>
              </a:rPr>
              <a:t>Trendmart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-62301"/>
            <a:ext cx="5286972" cy="61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2"/>
              </a:lnSpc>
              <a:spcBef>
                <a:spcPct val="0"/>
              </a:spcBef>
            </a:pPr>
            <a:r>
              <a:rPr lang="en-US" b="true" sz="361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86972" y="0"/>
            <a:ext cx="12878212" cy="7280378"/>
          </a:xfrm>
          <a:custGeom>
            <a:avLst/>
            <a:gdLst/>
            <a:ahLst/>
            <a:cxnLst/>
            <a:rect r="r" b="b" t="t" l="l"/>
            <a:pathLst>
              <a:path h="7280378" w="12878212">
                <a:moveTo>
                  <a:pt x="0" y="0"/>
                </a:moveTo>
                <a:lnTo>
                  <a:pt x="12878212" y="0"/>
                </a:lnTo>
                <a:lnTo>
                  <a:pt x="12878212" y="7280378"/>
                </a:lnTo>
                <a:lnTo>
                  <a:pt x="0" y="7280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6" t="0" r="-127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50401" y="6473854"/>
            <a:ext cx="55149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16295D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397975"/>
            <a:ext cx="4679618" cy="807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📊 Insights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💷 Revenue £12.8M but 📉 costs rising fast (Cost Growth 87%).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🏬 Store S01 leads revenue; others underperform.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🧒 Kidswear = 100% revenue in current filter → category dependency risk.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📈 GP Margin 44% shows strong product profitability.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💸 Operating expe</a:t>
            </a: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nses (£21.1M) far exceed revenue → pressure on profit.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📉 Revenue trend declining from the early 2023 peak.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83424" y="7347219"/>
            <a:ext cx="10581760" cy="377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3"/>
              </a:lnSpc>
              <a:spcBef>
                <a:spcPct val="0"/>
              </a:spcBef>
            </a:pPr>
            <a:r>
              <a:rPr lang="en-US" b="true" sz="256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🧭 Recommendations</a:t>
            </a:r>
          </a:p>
          <a:p>
            <a:pPr algn="l">
              <a:lnSpc>
                <a:spcPts val="3453"/>
              </a:lnSpc>
              <a:spcBef>
                <a:spcPct val="0"/>
              </a:spcBef>
            </a:pPr>
          </a:p>
          <a:p>
            <a:pPr algn="l">
              <a:lnSpc>
                <a:spcPts val="3116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🔍 Investigate cost drivers — reduce operating expenses immediately</a:t>
            </a:r>
          </a:p>
          <a:p>
            <a:pPr algn="l">
              <a:lnSpc>
                <a:spcPts val="3116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116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🎯 Diversify categories beyond Kidswear to reduce revenue concentration.</a:t>
            </a:r>
          </a:p>
          <a:p>
            <a:pPr algn="l">
              <a:lnSpc>
                <a:spcPts val="3116"/>
              </a:lnSpc>
              <a:spcBef>
                <a:spcPct val="0"/>
              </a:spcBef>
            </a:pPr>
          </a:p>
          <a:p>
            <a:pPr algn="l">
              <a:lnSpc>
                <a:spcPts val="3116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🚀 Boost high‑performing stores (S01) with targeted marketing</a:t>
            </a:r>
          </a:p>
          <a:p>
            <a:pPr algn="l">
              <a:lnSpc>
                <a:spcPts val="3116"/>
              </a:lnSpc>
              <a:spcBef>
                <a:spcPct val="0"/>
              </a:spcBef>
            </a:pPr>
            <a:r>
              <a:rPr lang="en-US" sz="22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4516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200639" y="9468825"/>
            <a:ext cx="828061" cy="743443"/>
            <a:chOff x="0" y="0"/>
            <a:chExt cx="750828" cy="674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0828" cy="674102"/>
            </a:xfrm>
            <a:custGeom>
              <a:avLst/>
              <a:gdLst/>
              <a:ahLst/>
              <a:cxnLst/>
              <a:rect r="r" b="b" t="t" l="l"/>
              <a:pathLst>
                <a:path h="674102" w="750828">
                  <a:moveTo>
                    <a:pt x="0" y="0"/>
                  </a:moveTo>
                  <a:lnTo>
                    <a:pt x="750828" y="0"/>
                  </a:lnTo>
                  <a:lnTo>
                    <a:pt x="750828" y="674102"/>
                  </a:lnTo>
                  <a:lnTo>
                    <a:pt x="0" y="674102"/>
                  </a:lnTo>
                  <a:close/>
                </a:path>
              </a:pathLst>
            </a:custGeom>
            <a:blipFill>
              <a:blip r:embed="rId3"/>
              <a:stretch>
                <a:fillRect l="-17335" t="0" r="-17335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50401" y="9783397"/>
            <a:ext cx="2132857" cy="50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4"/>
              </a:lnSpc>
              <a:spcBef>
                <a:spcPct val="0"/>
              </a:spcBef>
            </a:pPr>
            <a:r>
              <a:rPr lang="en-US" sz="2953">
                <a:solidFill>
                  <a:srgbClr val="16295D"/>
                </a:solidFill>
                <a:latin typeface="Anton"/>
                <a:ea typeface="Anton"/>
                <a:cs typeface="Anton"/>
                <a:sym typeface="Anton"/>
              </a:rPr>
              <a:t>Trendmart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-62301"/>
            <a:ext cx="5286972" cy="61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2"/>
              </a:lnSpc>
              <a:spcBef>
                <a:spcPct val="0"/>
              </a:spcBef>
            </a:pPr>
            <a:r>
              <a:rPr lang="en-US" b="true" sz="361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Executive Summary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502429" cy="6749470"/>
          </a:xfrm>
          <a:custGeom>
            <a:avLst/>
            <a:gdLst/>
            <a:ahLst/>
            <a:cxnLst/>
            <a:rect r="r" b="b" t="t" l="l"/>
            <a:pathLst>
              <a:path h="6749470" w="11502429">
                <a:moveTo>
                  <a:pt x="0" y="0"/>
                </a:moveTo>
                <a:lnTo>
                  <a:pt x="11502429" y="0"/>
                </a:lnTo>
                <a:lnTo>
                  <a:pt x="11502429" y="6749470"/>
                </a:lnTo>
                <a:lnTo>
                  <a:pt x="0" y="6749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93" t="-3572" r="-136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849036" y="1066166"/>
            <a:ext cx="5726936" cy="48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Performance</a:t>
            </a:r>
          </a:p>
          <a:p>
            <a:pPr algn="l">
              <a:lnSpc>
                <a:spcPts val="3846"/>
              </a:lnSpc>
            </a:pPr>
          </a:p>
          <a:p>
            <a:pPr algn="l" marL="593224" indent="-296612" lvl="1">
              <a:lnSpc>
                <a:spcPts val="3846"/>
              </a:lnSpc>
              <a:buFont typeface="Arial"/>
              <a:buChar char="•"/>
            </a:pPr>
            <a:r>
              <a:rPr lang="en-US" sz="27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Revenue: £68.59M</a:t>
            </a:r>
          </a:p>
          <a:p>
            <a:pPr algn="l">
              <a:lnSpc>
                <a:spcPts val="3846"/>
              </a:lnSpc>
            </a:pPr>
          </a:p>
          <a:p>
            <a:pPr algn="l" marL="593224" indent="-296612" lvl="1">
              <a:lnSpc>
                <a:spcPts val="3846"/>
              </a:lnSpc>
              <a:buFont typeface="Arial"/>
              <a:buChar char="•"/>
            </a:pPr>
            <a:r>
              <a:rPr lang="en-US" sz="27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Gross Profit: £28.42M</a:t>
            </a:r>
          </a:p>
          <a:p>
            <a:pPr algn="l">
              <a:lnSpc>
                <a:spcPts val="3846"/>
              </a:lnSpc>
            </a:pPr>
          </a:p>
          <a:p>
            <a:pPr algn="l" marL="593224" indent="-296612" lvl="1">
              <a:lnSpc>
                <a:spcPts val="3846"/>
              </a:lnSpc>
              <a:buFont typeface="Arial"/>
              <a:buChar char="•"/>
            </a:pPr>
            <a:r>
              <a:rPr lang="en-US" sz="27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Units Sold: 3M</a:t>
            </a:r>
          </a:p>
          <a:p>
            <a:pPr algn="l">
              <a:lnSpc>
                <a:spcPts val="3846"/>
              </a:lnSpc>
            </a:pPr>
          </a:p>
          <a:p>
            <a:pPr algn="l" marL="593224" indent="-296612" lvl="1">
              <a:lnSpc>
                <a:spcPts val="3846"/>
              </a:lnSpc>
              <a:buFont typeface="Arial"/>
              <a:buChar char="•"/>
            </a:pPr>
            <a:r>
              <a:rPr lang="en-US" sz="27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Gross Profit Margin: 41%</a:t>
            </a:r>
          </a:p>
          <a:p>
            <a:pPr algn="l">
              <a:lnSpc>
                <a:spcPts val="3846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153440" y="8370567"/>
            <a:ext cx="2134560" cy="1916433"/>
            <a:chOff x="0" y="0"/>
            <a:chExt cx="750828" cy="6741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50828" cy="674102"/>
            </a:xfrm>
            <a:custGeom>
              <a:avLst/>
              <a:gdLst/>
              <a:ahLst/>
              <a:cxnLst/>
              <a:rect r="r" b="b" t="t" l="l"/>
              <a:pathLst>
                <a:path h="674102" w="750828">
                  <a:moveTo>
                    <a:pt x="0" y="0"/>
                  </a:moveTo>
                  <a:lnTo>
                    <a:pt x="750828" y="0"/>
                  </a:lnTo>
                  <a:lnTo>
                    <a:pt x="750828" y="674102"/>
                  </a:lnTo>
                  <a:lnTo>
                    <a:pt x="0" y="674102"/>
                  </a:lnTo>
                  <a:close/>
                </a:path>
              </a:pathLst>
            </a:custGeom>
            <a:blipFill>
              <a:blip r:embed="rId3"/>
              <a:stretch>
                <a:fillRect l="-17335" t="0" r="-17335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153440" y="7617841"/>
            <a:ext cx="2547683" cy="59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9"/>
              </a:lnSpc>
              <a:spcBef>
                <a:spcPct val="0"/>
              </a:spcBef>
            </a:pPr>
            <a:r>
              <a:rPr lang="en-US" sz="3527">
                <a:solidFill>
                  <a:srgbClr val="16295D"/>
                </a:solidFill>
                <a:latin typeface="Anton"/>
                <a:ea typeface="Anton"/>
                <a:cs typeface="Anton"/>
                <a:sym typeface="Anton"/>
              </a:rPr>
              <a:t>Trendmart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02429" y="-66675"/>
            <a:ext cx="6420150" cy="118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 Mix Analysis Summary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6789417"/>
            <a:ext cx="15740317" cy="311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Category Performance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👗 Women’s wear (£15M), while Men’s wear (£14M), is the core revenue engine, jointly contributing over half of total sales.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🧒 Kidswear (£10M) provides stable mid‑tier volume.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👟 Footwear (£8M) and 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🎒 Accessories (£6M) add incremental revenue and margin diversity.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1502429" cy="6749470"/>
          </a:xfrm>
          <a:custGeom>
            <a:avLst/>
            <a:gdLst/>
            <a:ahLst/>
            <a:cxnLst/>
            <a:rect r="r" b="b" t="t" l="l"/>
            <a:pathLst>
              <a:path h="6749470" w="11502429">
                <a:moveTo>
                  <a:pt x="0" y="0"/>
                </a:moveTo>
                <a:lnTo>
                  <a:pt x="11502429" y="0"/>
                </a:lnTo>
                <a:lnTo>
                  <a:pt x="11502429" y="6749470"/>
                </a:lnTo>
                <a:lnTo>
                  <a:pt x="0" y="6749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93" t="-3572" r="-136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693520" y="926979"/>
            <a:ext cx="6401002" cy="7290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  <a:spcBef>
                <a:spcPct val="0"/>
              </a:spcBef>
            </a:pPr>
            <a:r>
              <a:rPr lang="en-US" b="true" sz="27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📊 Insights</a:t>
            </a:r>
          </a:p>
          <a:p>
            <a:pPr algn="l">
              <a:lnSpc>
                <a:spcPts val="3846"/>
              </a:lnSpc>
              <a:spcBef>
                <a:spcPct val="0"/>
              </a:spcBef>
            </a:pP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💷 Revenue £68.59M with 41% margin — strong profitability.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🏷️ Women’s wear + Men’s wear = 53% of total revenue.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📦 Units stable (290K–305K) but revenue varies → pricing power.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💡 Top GP items: Denim, Running Shoes, Men’s Chinos.</a:t>
            </a:r>
          </a:p>
          <a:p>
            <a:pPr algn="l">
              <a:lnSpc>
                <a:spcPts val="3392"/>
              </a:lnSpc>
              <a:spcBef>
                <a:spcPct val="0"/>
              </a:spcBef>
            </a:pPr>
          </a:p>
          <a:p>
            <a:pPr algn="l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🥧 Balanced mix reduces risk.</a:t>
            </a:r>
          </a:p>
          <a:p>
            <a:pPr algn="ctr">
              <a:lnSpc>
                <a:spcPts val="3040"/>
              </a:lnSpc>
              <a:spcBef>
                <a:spcPct val="0"/>
              </a:spcBef>
            </a:pPr>
          </a:p>
          <a:p>
            <a:pPr algn="ctr">
              <a:lnSpc>
                <a:spcPts val="304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0" y="6915617"/>
            <a:ext cx="9304883" cy="418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  <a:spcBef>
                <a:spcPct val="0"/>
              </a:spcBef>
            </a:pPr>
            <a:r>
              <a:rPr lang="en-US" b="true" sz="256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Recommendations</a:t>
            </a:r>
          </a:p>
          <a:p>
            <a:pPr algn="l">
              <a:lnSpc>
                <a:spcPts val="3328"/>
              </a:lnSpc>
              <a:spcBef>
                <a:spcPct val="0"/>
              </a:spcBef>
            </a:pPr>
            <a:r>
              <a:rPr lang="en-US" sz="23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🚀 Prioritize hero products (Denim, Running Shoes).</a:t>
            </a:r>
          </a:p>
          <a:p>
            <a:pPr algn="l">
              <a:lnSpc>
                <a:spcPts val="3328"/>
              </a:lnSpc>
              <a:spcBef>
                <a:spcPct val="0"/>
              </a:spcBef>
            </a:pPr>
          </a:p>
          <a:p>
            <a:pPr algn="l">
              <a:lnSpc>
                <a:spcPts val="3328"/>
              </a:lnSpc>
              <a:spcBef>
                <a:spcPct val="0"/>
              </a:spcBef>
            </a:pPr>
            <a:r>
              <a:rPr lang="en-US" sz="23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🎯 Upsell high‑margin categories (Women’s Wear, Men’s Wear).</a:t>
            </a:r>
          </a:p>
          <a:p>
            <a:pPr algn="l">
              <a:lnSpc>
                <a:spcPts val="3328"/>
              </a:lnSpc>
              <a:spcBef>
                <a:spcPct val="0"/>
              </a:spcBef>
            </a:pPr>
          </a:p>
          <a:p>
            <a:pPr algn="l">
              <a:lnSpc>
                <a:spcPts val="3328"/>
              </a:lnSpc>
              <a:spcBef>
                <a:spcPct val="0"/>
              </a:spcBef>
            </a:pPr>
            <a:r>
              <a:rPr lang="en-US" sz="23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📈 Strengthen premium pricing where revenue per unit is high.</a:t>
            </a:r>
          </a:p>
          <a:p>
            <a:pPr algn="l">
              <a:lnSpc>
                <a:spcPts val="3328"/>
              </a:lnSpc>
              <a:spcBef>
                <a:spcPct val="0"/>
              </a:spcBef>
            </a:pPr>
          </a:p>
          <a:p>
            <a:pPr algn="l">
              <a:lnSpc>
                <a:spcPts val="3328"/>
              </a:lnSpc>
              <a:spcBef>
                <a:spcPct val="0"/>
              </a:spcBef>
            </a:pPr>
            <a:r>
              <a:rPr lang="en-US" sz="237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🔍 Trim low‑margin accessories.</a:t>
            </a:r>
          </a:p>
          <a:p>
            <a:pPr algn="l">
              <a:lnSpc>
                <a:spcPts val="3328"/>
              </a:lnSpc>
              <a:spcBef>
                <a:spcPct val="0"/>
              </a:spcBef>
            </a:pPr>
          </a:p>
          <a:p>
            <a:pPr algn="l">
              <a:lnSpc>
                <a:spcPts val="3328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6537481" y="8715363"/>
            <a:ext cx="1750519" cy="1571637"/>
            <a:chOff x="0" y="0"/>
            <a:chExt cx="750828" cy="6741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0828" cy="674102"/>
            </a:xfrm>
            <a:custGeom>
              <a:avLst/>
              <a:gdLst/>
              <a:ahLst/>
              <a:cxnLst/>
              <a:rect r="r" b="b" t="t" l="l"/>
              <a:pathLst>
                <a:path h="674102" w="750828">
                  <a:moveTo>
                    <a:pt x="0" y="0"/>
                  </a:moveTo>
                  <a:lnTo>
                    <a:pt x="750828" y="0"/>
                  </a:lnTo>
                  <a:lnTo>
                    <a:pt x="750828" y="674102"/>
                  </a:lnTo>
                  <a:lnTo>
                    <a:pt x="0" y="674102"/>
                  </a:lnTo>
                  <a:close/>
                </a:path>
              </a:pathLst>
            </a:custGeom>
            <a:blipFill>
              <a:blip r:embed="rId3"/>
              <a:stretch>
                <a:fillRect l="-17335" t="0" r="-1733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778897" y="7831721"/>
            <a:ext cx="2960806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16295D"/>
                </a:solidFill>
                <a:latin typeface="Anton"/>
                <a:ea typeface="Anton"/>
                <a:cs typeface="Anton"/>
                <a:sym typeface="Anton"/>
              </a:rPr>
              <a:t>Trendmart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94314" y="-66675"/>
            <a:ext cx="4395589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 Mix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31210" y="7722141"/>
            <a:ext cx="2856790" cy="2564859"/>
            <a:chOff x="0" y="0"/>
            <a:chExt cx="750828" cy="674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828" cy="674102"/>
            </a:xfrm>
            <a:custGeom>
              <a:avLst/>
              <a:gdLst/>
              <a:ahLst/>
              <a:cxnLst/>
              <a:rect r="r" b="b" t="t" l="l"/>
              <a:pathLst>
                <a:path h="674102" w="750828">
                  <a:moveTo>
                    <a:pt x="0" y="0"/>
                  </a:moveTo>
                  <a:lnTo>
                    <a:pt x="750828" y="0"/>
                  </a:lnTo>
                  <a:lnTo>
                    <a:pt x="750828" y="674102"/>
                  </a:lnTo>
                  <a:lnTo>
                    <a:pt x="0" y="674102"/>
                  </a:lnTo>
                  <a:close/>
                </a:path>
              </a:pathLst>
            </a:custGeom>
            <a:blipFill>
              <a:blip r:embed="rId2"/>
              <a:stretch>
                <a:fillRect l="-17335" t="0" r="-1733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281026" y="0"/>
            <a:ext cx="12006974" cy="7519632"/>
          </a:xfrm>
          <a:custGeom>
            <a:avLst/>
            <a:gdLst/>
            <a:ahLst/>
            <a:cxnLst/>
            <a:rect r="r" b="b" t="t" l="l"/>
            <a:pathLst>
              <a:path h="7519632" w="12006974">
                <a:moveTo>
                  <a:pt x="0" y="0"/>
                </a:moveTo>
                <a:lnTo>
                  <a:pt x="12006974" y="0"/>
                </a:lnTo>
                <a:lnTo>
                  <a:pt x="12006974" y="7519632"/>
                </a:lnTo>
                <a:lnTo>
                  <a:pt x="0" y="75196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7" t="0" r="-874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-47625"/>
            <a:ext cx="6683158" cy="10723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Store Performance Summary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💷 Total Revenue: £68.59M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💰 Total Operating Profit: £47.50M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🧾 Total Operating Expenses: £21.09M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📈 Cost Growth: 85%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🏬 Top Revenue Stores: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S01 (~£14M)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S02 (~£13M)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S05 (~£12M)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💹 Top Profit Stores: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S01 (~£10M)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S02 (~£9.5M)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S05 (~£9M)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84513" y="9591039"/>
            <a:ext cx="2960806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16295D"/>
                </a:solidFill>
                <a:latin typeface="Anton"/>
                <a:ea typeface="Anton"/>
                <a:cs typeface="Anton"/>
                <a:sym typeface="Anton"/>
              </a:rPr>
              <a:t>Trendmart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99340" y="8052652"/>
            <a:ext cx="2488660" cy="2234348"/>
            <a:chOff x="0" y="0"/>
            <a:chExt cx="750828" cy="6741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828" cy="674102"/>
            </a:xfrm>
            <a:custGeom>
              <a:avLst/>
              <a:gdLst/>
              <a:ahLst/>
              <a:cxnLst/>
              <a:rect r="r" b="b" t="t" l="l"/>
              <a:pathLst>
                <a:path h="674102" w="750828">
                  <a:moveTo>
                    <a:pt x="0" y="0"/>
                  </a:moveTo>
                  <a:lnTo>
                    <a:pt x="750828" y="0"/>
                  </a:lnTo>
                  <a:lnTo>
                    <a:pt x="750828" y="674102"/>
                  </a:lnTo>
                  <a:lnTo>
                    <a:pt x="0" y="674102"/>
                  </a:lnTo>
                  <a:close/>
                </a:path>
              </a:pathLst>
            </a:custGeom>
            <a:blipFill>
              <a:blip r:embed="rId2"/>
              <a:stretch>
                <a:fillRect l="-17335" t="0" r="-1733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281026" y="0"/>
            <a:ext cx="12006974" cy="7519632"/>
          </a:xfrm>
          <a:custGeom>
            <a:avLst/>
            <a:gdLst/>
            <a:ahLst/>
            <a:cxnLst/>
            <a:rect r="r" b="b" t="t" l="l"/>
            <a:pathLst>
              <a:path h="7519632" w="12006974">
                <a:moveTo>
                  <a:pt x="0" y="0"/>
                </a:moveTo>
                <a:lnTo>
                  <a:pt x="12006974" y="0"/>
                </a:lnTo>
                <a:lnTo>
                  <a:pt x="12006974" y="7519632"/>
                </a:lnTo>
                <a:lnTo>
                  <a:pt x="0" y="75196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7" t="0" r="-874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590301" y="9591039"/>
            <a:ext cx="2960806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16295D"/>
                </a:solidFill>
                <a:latin typeface="Anton"/>
                <a:ea typeface="Anton"/>
                <a:cs typeface="Anton"/>
                <a:sym typeface="Anton"/>
              </a:rPr>
              <a:t>Trendmart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-57150"/>
            <a:ext cx="6281026" cy="577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16295D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b="true" sz="3199">
                <a:solidFill>
                  <a:srgbClr val="1629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nsights 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16295D"/>
                </a:solidFill>
                <a:latin typeface="Canva Sans"/>
                <a:ea typeface="Canva Sans"/>
                <a:cs typeface="Canva Sans"/>
                <a:sym typeface="Canva Sans"/>
              </a:rPr>
              <a:t>S01 is the best overall performer (highest revenue + profit)</a:t>
            </a:r>
          </a:p>
          <a:p>
            <a:pPr algn="l">
              <a:lnSpc>
                <a:spcPts val="4199"/>
              </a:lnSpc>
            </a:pP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16295D"/>
                </a:solidFill>
                <a:latin typeface="Canva Sans"/>
                <a:ea typeface="Canva Sans"/>
                <a:cs typeface="Canva Sans"/>
                <a:sym typeface="Canva Sans"/>
              </a:rPr>
              <a:t>S03 delivers lowest revenue but similar expenses → efficiency gap</a:t>
            </a:r>
          </a:p>
          <a:p>
            <a:pPr algn="l">
              <a:lnSpc>
                <a:spcPts val="4199"/>
              </a:lnSpc>
            </a:pP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16295D"/>
                </a:solidFill>
                <a:latin typeface="Canva Sans"/>
                <a:ea typeface="Canva Sans"/>
                <a:cs typeface="Canva Sans"/>
                <a:sym typeface="Canva Sans"/>
              </a:rPr>
              <a:t>Cost growth at 85% signals rising operational pressure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7189740"/>
            <a:ext cx="10735866" cy="3683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1629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6295D"/>
                </a:solidFill>
                <a:latin typeface="Canva Sans"/>
                <a:ea typeface="Canva Sans"/>
                <a:cs typeface="Canva Sans"/>
                <a:sym typeface="Canva Sans"/>
              </a:rPr>
              <a:t>🟢 Optimise operations in S03 to improve efficiency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6295D"/>
                </a:solidFill>
                <a:latin typeface="Canva Sans"/>
                <a:ea typeface="Canva Sans"/>
                <a:cs typeface="Canva Sans"/>
                <a:sym typeface="Canva Sans"/>
              </a:rPr>
              <a:t>🟢 Replicate S01’s performance model across other stores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6295D"/>
                </a:solidFill>
                <a:latin typeface="Canva Sans"/>
                <a:ea typeface="Canva Sans"/>
                <a:cs typeface="Canva Sans"/>
                <a:sym typeface="Canva Sans"/>
              </a:rPr>
              <a:t>🔴 Monitor rising costs to protect profit margins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6295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329511" cy="7059527"/>
          </a:xfrm>
          <a:custGeom>
            <a:avLst/>
            <a:gdLst/>
            <a:ahLst/>
            <a:cxnLst/>
            <a:rect r="r" b="b" t="t" l="l"/>
            <a:pathLst>
              <a:path h="7059527" w="12329511">
                <a:moveTo>
                  <a:pt x="0" y="0"/>
                </a:moveTo>
                <a:lnTo>
                  <a:pt x="12329511" y="0"/>
                </a:lnTo>
                <a:lnTo>
                  <a:pt x="12329511" y="7059527"/>
                </a:lnTo>
                <a:lnTo>
                  <a:pt x="0" y="7059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3" t="-945" r="0" b="-94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329511" y="-66675"/>
            <a:ext cx="5958489" cy="1005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Marketing Efficiency Summary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💷Campaign Cost: £3M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📈 Sales Generated: £8.35M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🔁 ROI: 178%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🎯 Cost per Acquisition: £0.36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🚀 Top ROI Channels: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Influencer (2.09)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Paid Search (1.79)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Email (1.77)</a:t>
            </a:r>
          </a:p>
          <a:p>
            <a:pPr algn="ctr">
              <a:lnSpc>
                <a:spcPts val="4199"/>
              </a:lnSpc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💰 Highest Sales: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TV (£2.4M)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Influencer (£1.8M)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Email (£1.7M)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1091" y="8573070"/>
            <a:ext cx="3354320" cy="1522840"/>
            <a:chOff x="0" y="0"/>
            <a:chExt cx="794756" cy="3608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4756" cy="360814"/>
            </a:xfrm>
            <a:custGeom>
              <a:avLst/>
              <a:gdLst/>
              <a:ahLst/>
              <a:cxnLst/>
              <a:rect r="r" b="b" t="t" l="l"/>
              <a:pathLst>
                <a:path h="360814" w="794756">
                  <a:moveTo>
                    <a:pt x="0" y="0"/>
                  </a:moveTo>
                  <a:lnTo>
                    <a:pt x="794756" y="0"/>
                  </a:lnTo>
                  <a:lnTo>
                    <a:pt x="794756" y="360814"/>
                  </a:lnTo>
                  <a:lnTo>
                    <a:pt x="0" y="360814"/>
                  </a:lnTo>
                  <a:close/>
                </a:path>
              </a:pathLst>
            </a:custGeom>
            <a:blipFill>
              <a:blip r:embed="rId3"/>
              <a:stretch>
                <a:fillRect l="0" t="-23422" r="0" b="-2342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1091" y="7877108"/>
            <a:ext cx="2960806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16295D"/>
                </a:solidFill>
                <a:latin typeface="Anton"/>
                <a:ea typeface="Anton"/>
                <a:cs typeface="Anton"/>
                <a:sym typeface="Anton"/>
              </a:rPr>
              <a:t>Trendmart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1091" y="0"/>
            <a:ext cx="12071169" cy="6512814"/>
          </a:xfrm>
          <a:custGeom>
            <a:avLst/>
            <a:gdLst/>
            <a:ahLst/>
            <a:cxnLst/>
            <a:rect r="r" b="b" t="t" l="l"/>
            <a:pathLst>
              <a:path h="6512814" w="12071169">
                <a:moveTo>
                  <a:pt x="0" y="0"/>
                </a:moveTo>
                <a:lnTo>
                  <a:pt x="12071169" y="0"/>
                </a:lnTo>
                <a:lnTo>
                  <a:pt x="12071169" y="6512814"/>
                </a:lnTo>
                <a:lnTo>
                  <a:pt x="0" y="6512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63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58798" y="-57150"/>
            <a:ext cx="5829202" cy="1015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sz="26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b="true" sz="26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nsights &amp; Recommendations</a:t>
            </a:r>
          </a:p>
          <a:p>
            <a:pPr algn="l">
              <a:lnSpc>
                <a:spcPts val="3666"/>
              </a:lnSpc>
              <a:spcBef>
                <a:spcPct val="0"/>
              </a:spcBef>
            </a:pPr>
          </a:p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sz="26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📉 TV: Highest spend + lowest ROI</a:t>
            </a:r>
          </a:p>
          <a:p>
            <a:pPr algn="ctr">
              <a:lnSpc>
                <a:spcPts val="3666"/>
              </a:lnSpc>
              <a:spcBef>
                <a:spcPct val="0"/>
              </a:spcBef>
            </a:pPr>
          </a:p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sz="26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📊 Social Media: Lowest spend + moderate ROI</a:t>
            </a:r>
          </a:p>
          <a:p>
            <a:pPr algn="ctr">
              <a:lnSpc>
                <a:spcPts val="3666"/>
              </a:lnSpc>
              <a:spcBef>
                <a:spcPct val="0"/>
              </a:spcBef>
            </a:pPr>
          </a:p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sz="26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📈 Trends: Email &amp; Influencer show steady growth</a:t>
            </a:r>
          </a:p>
          <a:p>
            <a:pPr algn="ctr">
              <a:lnSpc>
                <a:spcPts val="3666"/>
              </a:lnSpc>
              <a:spcBef>
                <a:spcPct val="0"/>
              </a:spcBef>
            </a:pPr>
          </a:p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sz="26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🔍 Overall: Strong ROI and very low CPA</a:t>
            </a:r>
          </a:p>
          <a:p>
            <a:pPr algn="ctr">
              <a:lnSpc>
                <a:spcPts val="3666"/>
              </a:lnSpc>
              <a:spcBef>
                <a:spcPct val="0"/>
              </a:spcBef>
            </a:pPr>
          </a:p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b="true" sz="261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Recommendations</a:t>
            </a:r>
          </a:p>
          <a:p>
            <a:pPr algn="l">
              <a:lnSpc>
                <a:spcPts val="3666"/>
              </a:lnSpc>
              <a:spcBef>
                <a:spcPct val="0"/>
              </a:spcBef>
            </a:pPr>
          </a:p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sz="26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🟢 Increase spend on Influencer, Paid Search, Email</a:t>
            </a:r>
          </a:p>
          <a:p>
            <a:pPr algn="ctr">
              <a:lnSpc>
                <a:spcPts val="3666"/>
              </a:lnSpc>
              <a:spcBef>
                <a:spcPct val="0"/>
              </a:spcBef>
            </a:pPr>
          </a:p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sz="26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🔴 Reduce reliance on TV</a:t>
            </a:r>
          </a:p>
          <a:p>
            <a:pPr algn="ctr">
              <a:lnSpc>
                <a:spcPts val="3666"/>
              </a:lnSpc>
              <a:spcBef>
                <a:spcPct val="0"/>
              </a:spcBef>
            </a:pPr>
          </a:p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sz="26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🎯 Maintain low CPA by optimising spend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1091" y="8119945"/>
            <a:ext cx="4352406" cy="1975964"/>
            <a:chOff x="0" y="0"/>
            <a:chExt cx="794756" cy="3608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4756" cy="360814"/>
            </a:xfrm>
            <a:custGeom>
              <a:avLst/>
              <a:gdLst/>
              <a:ahLst/>
              <a:cxnLst/>
              <a:rect r="r" b="b" t="t" l="l"/>
              <a:pathLst>
                <a:path h="360814" w="794756">
                  <a:moveTo>
                    <a:pt x="0" y="0"/>
                  </a:moveTo>
                  <a:lnTo>
                    <a:pt x="794756" y="0"/>
                  </a:lnTo>
                  <a:lnTo>
                    <a:pt x="794756" y="360814"/>
                  </a:lnTo>
                  <a:lnTo>
                    <a:pt x="0" y="360814"/>
                  </a:lnTo>
                  <a:close/>
                </a:path>
              </a:pathLst>
            </a:custGeom>
            <a:blipFill>
              <a:blip r:embed="rId3"/>
              <a:stretch>
                <a:fillRect l="0" t="-23422" r="0" b="-2342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768269" y="9399948"/>
            <a:ext cx="2960806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sz="4099">
                <a:solidFill>
                  <a:srgbClr val="16295D"/>
                </a:solidFill>
                <a:latin typeface="Anton"/>
                <a:ea typeface="Anton"/>
                <a:cs typeface="Anton"/>
                <a:sym typeface="Anton"/>
              </a:rPr>
              <a:t>Trendmart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24269" y="6814089"/>
            <a:ext cx="4439463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Customer KPIs measure acquisition cost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retention rate and lifetime value to guide marketing decisions.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24269" y="6311231"/>
            <a:ext cx="443946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Customer Metrics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91545" y="6814089"/>
            <a:ext cx="4439463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Operational KPIs measu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 inventory turnover fulfillment times and return rates to improve efficiency today.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91545" y="6311231"/>
            <a:ext cx="443946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Operational KPIs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904423"/>
            <a:ext cx="18288000" cy="120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BUSINESS PERFORMANCE — EXECUTIVE INSIGHTS &amp; 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8246" y="2538695"/>
            <a:ext cx="8187972" cy="755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📊</a:t>
            </a: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1. Financial Health Overview</a:t>
            </a:r>
          </a:p>
          <a:p>
            <a:pPr algn="just">
              <a:lnSpc>
                <a:spcPts val="461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💷 Total Revenue: £68.59M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💰 Gross Profit: £28.42M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📉 Cost Growth: 85–87% (significant pressure on margins)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🧾 Operating Expenses: £21.1M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📈 Gross Profit Margin: 41–44% (strong product profitability)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⚠️ Operating Profit Volatility driven by rising costs and uneven revenue trend.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2498628"/>
            <a:ext cx="9144000" cy="686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🛍️ 2. Product Mix Insights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👗 Women’s wear (28%) &amp; Men’s wear (25%) dominate revenue and mix share.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🧒 Kidswear contributes strongly but is over‑represented in some views (100% in filtered dashboard).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👟 Footwear &amp; Accessories underperform relative to other categories.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⭐ Top GP Products: Women’s Denim, Running Shoes, Men Chinos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82791" y="133885"/>
            <a:ext cx="1843789" cy="1655375"/>
            <a:chOff x="0" y="0"/>
            <a:chExt cx="750828" cy="6741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0828" cy="674102"/>
            </a:xfrm>
            <a:custGeom>
              <a:avLst/>
              <a:gdLst/>
              <a:ahLst/>
              <a:cxnLst/>
              <a:rect r="r" b="b" t="t" l="l"/>
              <a:pathLst>
                <a:path h="674102" w="750828">
                  <a:moveTo>
                    <a:pt x="0" y="0"/>
                  </a:moveTo>
                  <a:lnTo>
                    <a:pt x="750828" y="0"/>
                  </a:lnTo>
                  <a:lnTo>
                    <a:pt x="750828" y="674102"/>
                  </a:lnTo>
                  <a:lnTo>
                    <a:pt x="0" y="674102"/>
                  </a:lnTo>
                  <a:close/>
                </a:path>
              </a:pathLst>
            </a:custGeom>
            <a:blipFill>
              <a:blip r:embed="rId2"/>
              <a:stretch>
                <a:fillRect l="-17335" t="0" r="-17335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711027" y="151312"/>
            <a:ext cx="3470382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1629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Trendmart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24269" y="6814089"/>
            <a:ext cx="4439463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Customer KPIs measure acquisition cost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retention rate and lifetime value to guide marketing decisions.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24269" y="6311231"/>
            <a:ext cx="443946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Customer Metrics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91545" y="6814089"/>
            <a:ext cx="4439463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Operational KPIs measu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 inventory turnover fulfillment times and return rates to improve efficiency today.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91545" y="6311231"/>
            <a:ext cx="443946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Operational KPIs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904423"/>
            <a:ext cx="18288000" cy="1206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BUSINESS PERFORMANCE — EXECUTIVE INSIGHTS &amp; RECOMMENDATIONS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482791" y="133885"/>
            <a:ext cx="1843789" cy="1655375"/>
            <a:chOff x="0" y="0"/>
            <a:chExt cx="750828" cy="6741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0828" cy="674102"/>
            </a:xfrm>
            <a:custGeom>
              <a:avLst/>
              <a:gdLst/>
              <a:ahLst/>
              <a:cxnLst/>
              <a:rect r="r" b="b" t="t" l="l"/>
              <a:pathLst>
                <a:path h="674102" w="750828">
                  <a:moveTo>
                    <a:pt x="0" y="0"/>
                  </a:moveTo>
                  <a:lnTo>
                    <a:pt x="750828" y="0"/>
                  </a:lnTo>
                  <a:lnTo>
                    <a:pt x="750828" y="674102"/>
                  </a:lnTo>
                  <a:lnTo>
                    <a:pt x="0" y="674102"/>
                  </a:lnTo>
                  <a:close/>
                </a:path>
              </a:pathLst>
            </a:custGeom>
            <a:blipFill>
              <a:blip r:embed="rId2"/>
              <a:stretch>
                <a:fillRect l="-17335" t="0" r="-1733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711027" y="151312"/>
            <a:ext cx="3470382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1629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Trendmart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7278" y="2498628"/>
            <a:ext cx="8566668" cy="639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3. Store Performance Insights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🏆 S01 is the strongest store across revenue and operating profit.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🏪 S03 &amp; S04 lag in revenue and profit contribution.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📏 Store size correlates with revenue, but not perfectly — efficiency varies.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💸 Operating expenses differ sharply by store, impacting profitability.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23945" y="2498628"/>
            <a:ext cx="9151270" cy="734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📣 4. Marketing Efficiency Insights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📊 Marketing ROI: 178% (strong return overall)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⭐ Top ROI Channels: Influencer (2.09), Paid Search (1.79), Email (1.77)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📺 TV drives the highest sales (£2.4M) but at a higher cost.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📉 Social Media lowest sales (£1.1M) despite moderate ROI.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📆 Sales trends fluctuate, suggesting inconsistent campaign timing.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24269" y="6814089"/>
            <a:ext cx="4439463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Customer KPIs measure acquisition cost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retention rate and lifetime value to guide marketing decisions.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24269" y="6311231"/>
            <a:ext cx="443946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Customer Metrics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91545" y="6814089"/>
            <a:ext cx="4439463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Operational KPIs measu</a:t>
            </a:r>
            <a:r>
              <a:rPr lang="en-US" sz="1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 inventory turnover fulfillment times and return rates to improve efficiency today.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91545" y="6311231"/>
            <a:ext cx="443946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Operational KPIs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1295" y="894898"/>
            <a:ext cx="17245410" cy="56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BUSINESS PERFORMANCE — EXECUTIVE INSIGHTS &amp; RECOMMENDATIONS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216982" y="0"/>
            <a:ext cx="1071018" cy="961573"/>
            <a:chOff x="0" y="0"/>
            <a:chExt cx="750828" cy="6741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0828" cy="674102"/>
            </a:xfrm>
            <a:custGeom>
              <a:avLst/>
              <a:gdLst/>
              <a:ahLst/>
              <a:cxnLst/>
              <a:rect r="r" b="b" t="t" l="l"/>
              <a:pathLst>
                <a:path h="674102" w="750828">
                  <a:moveTo>
                    <a:pt x="0" y="0"/>
                  </a:moveTo>
                  <a:lnTo>
                    <a:pt x="750828" y="0"/>
                  </a:lnTo>
                  <a:lnTo>
                    <a:pt x="750828" y="674102"/>
                  </a:lnTo>
                  <a:lnTo>
                    <a:pt x="0" y="674102"/>
                  </a:lnTo>
                  <a:close/>
                </a:path>
              </a:pathLst>
            </a:custGeom>
            <a:blipFill>
              <a:blip r:embed="rId2"/>
              <a:stretch>
                <a:fillRect l="-17335" t="0" r="-1733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711027" y="151312"/>
            <a:ext cx="3470382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16295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Trendmart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2302509"/>
            <a:ext cx="8446218" cy="7984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1️⃣ Strengthen High‑Performing Categories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🚀 Increase investment in Women's Wear &amp; Men's Wear (inventory, marketing, new styles).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🎯 Expand high‑margin hero products (Denim, Running Shoes, Chinos).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2️⃣ Fix Cost Pressure &amp; Profitability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🔍 Conduct deep cost driver review — cost growth at 85–87% is unsustainable.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✂️ Reduce operating expenses in low‑efficiency stores (S03, S04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⚙️ Introduce store‑level performance KPIs to improve consistency.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11512" y="2302509"/>
            <a:ext cx="9376488" cy="8523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3️⃣ Optimize Underperforming Categories.`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♻️ Refresh Footwear &amp; Accessories assortment.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💡 Test pricing, bundling, and targeted promotions.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4️⃣ Improve Store Network Efficiency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🏬 Replicate S01’s operational model across weaker stores.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📍 Align product mix to store‑specific demand patterns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5️⃣ Scale High‑ROI Marketing Channels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⭐ Prioritize Influencer, Paid Search, Email — highest ROI.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📺 Re‑evaluate TV spend; high sales but costly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DAHEJlxsW7U</dc:identifier>
  <dcterms:modified xsi:type="dcterms:W3CDTF">2011-08-01T06:04:30Z</dcterms:modified>
  <cp:revision>1</cp:revision>
  <dc:title>Blue and White Modern Retail Market Presentation</dc:title>
</cp:coreProperties>
</file>