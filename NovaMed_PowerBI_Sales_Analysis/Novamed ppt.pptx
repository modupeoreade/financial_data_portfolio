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nva Sans" panose="020B0604020202020204" charset="0"/>
      <p:regular r:id="rId19"/>
    </p:embeddedFont>
    <p:embeddedFont>
      <p:font typeface="Poppins" panose="00000500000000000000" pitchFamily="2" charset="0"/>
      <p:regular r:id="rId20"/>
    </p:embeddedFont>
    <p:embeddedFont>
      <p:font typeface="Poppi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4" d="100"/>
          <a:sy n="34" d="100"/>
        </p:scale>
        <p:origin x="1260" y="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1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1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1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17.png"/><Relationship Id="rId5" Type="http://schemas.openxmlformats.org/officeDocument/2006/relationships/image" Target="../media/image40.sv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7.svg"/><Relationship Id="rId7" Type="http://schemas.openxmlformats.org/officeDocument/2006/relationships/image" Target="../media/image51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53.png"/><Relationship Id="rId5" Type="http://schemas.openxmlformats.org/officeDocument/2006/relationships/image" Target="../media/image40.svg"/><Relationship Id="rId10" Type="http://schemas.openxmlformats.org/officeDocument/2006/relationships/image" Target="../media/image17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svg"/><Relationship Id="rId7" Type="http://schemas.openxmlformats.org/officeDocument/2006/relationships/image" Target="../media/image59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17.png"/><Relationship Id="rId5" Type="http://schemas.openxmlformats.org/officeDocument/2006/relationships/image" Target="../media/image57.sv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9684" y="8882430"/>
            <a:ext cx="3924316" cy="398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TOBILOBA M. ADENIYI</a:t>
            </a:r>
          </a:p>
        </p:txBody>
      </p:sp>
      <p:sp>
        <p:nvSpPr>
          <p:cNvPr id="3" name="Freeform 3"/>
          <p:cNvSpPr/>
          <p:nvPr/>
        </p:nvSpPr>
        <p:spPr>
          <a:xfrm>
            <a:off x="1236754" y="9819568"/>
            <a:ext cx="15814491" cy="4388521"/>
          </a:xfrm>
          <a:custGeom>
            <a:avLst/>
            <a:gdLst/>
            <a:ahLst/>
            <a:cxnLst/>
            <a:rect l="l" t="t" r="r" b="b"/>
            <a:pathLst>
              <a:path w="15814491" h="4388521">
                <a:moveTo>
                  <a:pt x="0" y="0"/>
                </a:moveTo>
                <a:lnTo>
                  <a:pt x="15814492" y="0"/>
                </a:lnTo>
                <a:lnTo>
                  <a:pt x="15814492" y="4388521"/>
                </a:lnTo>
                <a:lnTo>
                  <a:pt x="0" y="438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4190785" y="8809218"/>
            <a:ext cx="635374" cy="635374"/>
          </a:xfrm>
          <a:custGeom>
            <a:avLst/>
            <a:gdLst/>
            <a:ahLst/>
            <a:cxnLst/>
            <a:rect l="l" t="t" r="r" b="b"/>
            <a:pathLst>
              <a:path w="635374" h="635374">
                <a:moveTo>
                  <a:pt x="0" y="0"/>
                </a:moveTo>
                <a:lnTo>
                  <a:pt x="635374" y="0"/>
                </a:lnTo>
                <a:lnTo>
                  <a:pt x="635374" y="635373"/>
                </a:lnTo>
                <a:lnTo>
                  <a:pt x="0" y="635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5104409" y="-2775977"/>
            <a:ext cx="5287215" cy="5287215"/>
          </a:xfrm>
          <a:custGeom>
            <a:avLst/>
            <a:gdLst/>
            <a:ahLst/>
            <a:cxnLst/>
            <a:rect l="l" t="t" r="r" b="b"/>
            <a:pathLst>
              <a:path w="5287215" h="5287215">
                <a:moveTo>
                  <a:pt x="0" y="0"/>
                </a:moveTo>
                <a:lnTo>
                  <a:pt x="5287215" y="0"/>
                </a:lnTo>
                <a:lnTo>
                  <a:pt x="5287215" y="5287215"/>
                </a:lnTo>
                <a:lnTo>
                  <a:pt x="0" y="52872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3153274">
            <a:off x="-2349453" y="58280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236754" y="1259938"/>
            <a:ext cx="399000" cy="399000"/>
          </a:xfrm>
          <a:custGeom>
            <a:avLst/>
            <a:gdLst/>
            <a:ahLst/>
            <a:cxnLst/>
            <a:rect l="l" t="t" r="r" b="b"/>
            <a:pathLst>
              <a:path w="399000" h="399000">
                <a:moveTo>
                  <a:pt x="0" y="0"/>
                </a:moveTo>
                <a:lnTo>
                  <a:pt x="399000" y="0"/>
                </a:lnTo>
                <a:lnTo>
                  <a:pt x="399000" y="398999"/>
                </a:lnTo>
                <a:lnTo>
                  <a:pt x="0" y="3989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6878466" y="7980543"/>
            <a:ext cx="345559" cy="325257"/>
          </a:xfrm>
          <a:custGeom>
            <a:avLst/>
            <a:gdLst/>
            <a:ahLst/>
            <a:cxnLst/>
            <a:rect l="l" t="t" r="r" b="b"/>
            <a:pathLst>
              <a:path w="345559" h="325257">
                <a:moveTo>
                  <a:pt x="0" y="0"/>
                </a:moveTo>
                <a:lnTo>
                  <a:pt x="345559" y="0"/>
                </a:lnTo>
                <a:lnTo>
                  <a:pt x="345559" y="325257"/>
                </a:lnTo>
                <a:lnTo>
                  <a:pt x="0" y="3252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028700" y="3204451"/>
            <a:ext cx="4695941" cy="3671191"/>
          </a:xfrm>
          <a:custGeom>
            <a:avLst/>
            <a:gdLst/>
            <a:ahLst/>
            <a:cxnLst/>
            <a:rect l="l" t="t" r="r" b="b"/>
            <a:pathLst>
              <a:path w="4695941" h="3671191">
                <a:moveTo>
                  <a:pt x="0" y="0"/>
                </a:moveTo>
                <a:lnTo>
                  <a:pt x="4695941" y="0"/>
                </a:lnTo>
                <a:lnTo>
                  <a:pt x="4695941" y="3671192"/>
                </a:lnTo>
                <a:lnTo>
                  <a:pt x="0" y="367119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6017088" y="3891962"/>
            <a:ext cx="11882093" cy="298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74"/>
              </a:lnSpc>
            </a:pPr>
            <a:r>
              <a:rPr lang="en-US" sz="11952">
                <a:solidFill>
                  <a:srgbClr val="53C89B"/>
                </a:solidFill>
                <a:latin typeface="Canva Sans"/>
                <a:ea typeface="Canva Sans"/>
                <a:cs typeface="Canva Sans"/>
                <a:sym typeface="Canva Sans"/>
              </a:rPr>
              <a:t>NovaMed Solutions: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77630" y="6789918"/>
            <a:ext cx="531537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Pharmaceutical Distributor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15761" y="6289295"/>
            <a:ext cx="5117083" cy="5450954"/>
          </a:xfrm>
          <a:custGeom>
            <a:avLst/>
            <a:gdLst/>
            <a:ahLst/>
            <a:cxnLst/>
            <a:rect l="l" t="t" r="r" b="b"/>
            <a:pathLst>
              <a:path w="5117083" h="5450954">
                <a:moveTo>
                  <a:pt x="0" y="0"/>
                </a:moveTo>
                <a:lnTo>
                  <a:pt x="5117083" y="0"/>
                </a:lnTo>
                <a:lnTo>
                  <a:pt x="5117083" y="5450954"/>
                </a:lnTo>
                <a:lnTo>
                  <a:pt x="0" y="545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6301769" y="5695849"/>
            <a:ext cx="11986231" cy="4462842"/>
          </a:xfrm>
          <a:custGeom>
            <a:avLst/>
            <a:gdLst/>
            <a:ahLst/>
            <a:cxnLst/>
            <a:rect l="l" t="t" r="r" b="b"/>
            <a:pathLst>
              <a:path w="11986231" h="4462842">
                <a:moveTo>
                  <a:pt x="0" y="0"/>
                </a:moveTo>
                <a:lnTo>
                  <a:pt x="11986231" y="0"/>
                </a:lnTo>
                <a:lnTo>
                  <a:pt x="11986231" y="4462842"/>
                </a:lnTo>
                <a:lnTo>
                  <a:pt x="0" y="4462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63" t="-68" r="-578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2471779" y="4752658"/>
            <a:ext cx="8005085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9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Sales Indicators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-47625"/>
            <a:ext cx="7204089" cy="572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sz="28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💰      £71M Revenue – lean operations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  <a:endParaRPr lang="en-US" sz="2815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sz="28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📉 £13M Expenses – efficient cost control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  <a:endParaRPr lang="en-US" sz="2815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sz="28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📈   £58M Profit – strong bottom-line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  <a:endParaRPr lang="en-US" sz="2815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sz="28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🥧 82% Margin – pricing power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  <a:endParaRPr lang="en-US" sz="2815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sz="28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👥 200 Customers – high-value engagements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  <a:endParaRPr lang="en-US" sz="2815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sz="28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📦 269K Units Sold – strong demand</a:t>
            </a:r>
          </a:p>
        </p:txBody>
      </p:sp>
      <p:sp>
        <p:nvSpPr>
          <p:cNvPr id="6" name="Freeform 6"/>
          <p:cNvSpPr/>
          <p:nvPr/>
        </p:nvSpPr>
        <p:spPr>
          <a:xfrm>
            <a:off x="16474321" y="0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14345" y="-3551284"/>
            <a:ext cx="6365081" cy="6365081"/>
          </a:xfrm>
          <a:custGeom>
            <a:avLst/>
            <a:gdLst/>
            <a:ahLst/>
            <a:cxnLst/>
            <a:rect l="l" t="t" r="r" b="b"/>
            <a:pathLst>
              <a:path w="6365081" h="6365081">
                <a:moveTo>
                  <a:pt x="0" y="0"/>
                </a:moveTo>
                <a:lnTo>
                  <a:pt x="6365081" y="0"/>
                </a:lnTo>
                <a:lnTo>
                  <a:pt x="6365081" y="6365081"/>
                </a:lnTo>
                <a:lnTo>
                  <a:pt x="0" y="6365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6102012" y="2813797"/>
            <a:ext cx="6279987" cy="6279987"/>
          </a:xfrm>
          <a:custGeom>
            <a:avLst/>
            <a:gdLst/>
            <a:ahLst/>
            <a:cxnLst/>
            <a:rect l="l" t="t" r="r" b="b"/>
            <a:pathLst>
              <a:path w="6279987" h="6279987">
                <a:moveTo>
                  <a:pt x="0" y="0"/>
                </a:moveTo>
                <a:lnTo>
                  <a:pt x="6279987" y="0"/>
                </a:lnTo>
                <a:lnTo>
                  <a:pt x="6279987" y="6279987"/>
                </a:lnTo>
                <a:lnTo>
                  <a:pt x="0" y="6279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6474321" y="0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9144000" cy="6157959"/>
          </a:xfrm>
          <a:custGeom>
            <a:avLst/>
            <a:gdLst/>
            <a:ahLst/>
            <a:cxnLst/>
            <a:rect l="l" t="t" r="r" b="b"/>
            <a:pathLst>
              <a:path w="9144000" h="6157959">
                <a:moveTo>
                  <a:pt x="0" y="0"/>
                </a:moveTo>
                <a:lnTo>
                  <a:pt x="9144000" y="0"/>
                </a:lnTo>
                <a:lnTo>
                  <a:pt x="9144000" y="6157959"/>
                </a:lnTo>
                <a:lnTo>
                  <a:pt x="0" y="61579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140" r="-3140" b="-473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8919673" y="2766172"/>
            <a:ext cx="9144000" cy="743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7"/>
              </a:lnSpc>
              <a:spcBef>
                <a:spcPct val="0"/>
              </a:spcBef>
            </a:pPr>
            <a:r>
              <a:rPr lang="en-US" sz="3454" b="1">
                <a:solidFill>
                  <a:srgbClr val="FFFFF8"/>
                </a:solidFill>
                <a:latin typeface="Poppins Bold"/>
                <a:ea typeface="Poppins Bold"/>
                <a:cs typeface="Poppins Bold"/>
                <a:sym typeface="Poppins Bold"/>
              </a:rPr>
              <a:t>🥇 Simvastatin – highest profit efficiency (96% margin)</a:t>
            </a:r>
          </a:p>
          <a:p>
            <a:pPr algn="ctr">
              <a:lnSpc>
                <a:spcPts val="4317"/>
              </a:lnSpc>
              <a:spcBef>
                <a:spcPct val="0"/>
              </a:spcBef>
            </a:pPr>
            <a:endParaRPr lang="en-US" sz="3454" b="1">
              <a:solidFill>
                <a:srgbClr val="FFFFF8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192"/>
              </a:lnSpc>
              <a:spcBef>
                <a:spcPct val="0"/>
              </a:spcBef>
            </a:pPr>
            <a:r>
              <a:rPr lang="en-US" sz="3354" b="1">
                <a:solidFill>
                  <a:srgbClr val="FFFFF8"/>
                </a:solidFill>
                <a:latin typeface="Poppins Bold"/>
                <a:ea typeface="Poppins Bold"/>
                <a:cs typeface="Poppins Bold"/>
                <a:sym typeface="Poppins Bold"/>
              </a:rPr>
              <a:t>💊 Sertraline – strong profit with lean costs</a:t>
            </a:r>
          </a:p>
          <a:p>
            <a:pPr algn="ctr">
              <a:lnSpc>
                <a:spcPts val="4317"/>
              </a:lnSpc>
              <a:spcBef>
                <a:spcPct val="0"/>
              </a:spcBef>
            </a:pPr>
            <a:endParaRPr lang="en-US" sz="3354" b="1">
              <a:solidFill>
                <a:srgbClr val="FFFFF8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17"/>
              </a:lnSpc>
              <a:spcBef>
                <a:spcPct val="0"/>
              </a:spcBef>
            </a:pPr>
            <a:r>
              <a:rPr lang="en-US" sz="3454" b="1">
                <a:solidFill>
                  <a:srgbClr val="FFFFF8"/>
                </a:solidFill>
                <a:latin typeface="Poppins Bold"/>
                <a:ea typeface="Poppins Bold"/>
                <a:cs typeface="Poppins Bold"/>
                <a:sym typeface="Poppins Bold"/>
              </a:rPr>
              <a:t>💰 Valacyclovir – leads in total revenue among top 5</a:t>
            </a:r>
          </a:p>
          <a:p>
            <a:pPr algn="ctr">
              <a:lnSpc>
                <a:spcPts val="4317"/>
              </a:lnSpc>
              <a:spcBef>
                <a:spcPct val="0"/>
              </a:spcBef>
            </a:pPr>
            <a:endParaRPr lang="en-US" sz="3454" b="1">
              <a:solidFill>
                <a:srgbClr val="FFFFF8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192"/>
              </a:lnSpc>
              <a:spcBef>
                <a:spcPct val="0"/>
              </a:spcBef>
            </a:pPr>
            <a:r>
              <a:rPr lang="en-US" sz="3354" b="1">
                <a:solidFill>
                  <a:srgbClr val="FFFFF8"/>
                </a:solidFill>
                <a:latin typeface="Poppins Bold"/>
                <a:ea typeface="Poppins Bold"/>
                <a:cs typeface="Poppins Bold"/>
                <a:sym typeface="Poppins Bold"/>
              </a:rPr>
              <a:t>📉 All products – maintain high margins, showing cost control</a:t>
            </a:r>
          </a:p>
          <a:p>
            <a:pPr algn="ctr">
              <a:lnSpc>
                <a:spcPts val="3692"/>
              </a:lnSpc>
              <a:spcBef>
                <a:spcPct val="0"/>
              </a:spcBef>
            </a:pPr>
            <a:endParaRPr lang="en-US" sz="3354" b="1">
              <a:solidFill>
                <a:srgbClr val="FFFFF8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192"/>
              </a:lnSpc>
              <a:spcBef>
                <a:spcPct val="0"/>
              </a:spcBef>
            </a:pPr>
            <a:r>
              <a:rPr lang="en-US" sz="3354" b="1">
                <a:solidFill>
                  <a:srgbClr val="FFFFF8"/>
                </a:solidFill>
                <a:latin typeface="Poppins Bold"/>
                <a:ea typeface="Poppins Bold"/>
                <a:cs typeface="Poppins Bold"/>
                <a:sym typeface="Poppins Bold"/>
              </a:rPr>
              <a:t>⚖️ Product mix – reflects balanced revenue and profitability</a:t>
            </a:r>
          </a:p>
        </p:txBody>
      </p:sp>
      <p:sp>
        <p:nvSpPr>
          <p:cNvPr id="7" name="Freeform 7"/>
          <p:cNvSpPr/>
          <p:nvPr/>
        </p:nvSpPr>
        <p:spPr>
          <a:xfrm>
            <a:off x="16626721" y="152400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14345" y="-3551284"/>
            <a:ext cx="6365081" cy="6365081"/>
          </a:xfrm>
          <a:custGeom>
            <a:avLst/>
            <a:gdLst/>
            <a:ahLst/>
            <a:cxnLst/>
            <a:rect l="l" t="t" r="r" b="b"/>
            <a:pathLst>
              <a:path w="6365081" h="6365081">
                <a:moveTo>
                  <a:pt x="0" y="0"/>
                </a:moveTo>
                <a:lnTo>
                  <a:pt x="6365081" y="0"/>
                </a:lnTo>
                <a:lnTo>
                  <a:pt x="6365081" y="6365081"/>
                </a:lnTo>
                <a:lnTo>
                  <a:pt x="0" y="6365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6102012" y="2813797"/>
            <a:ext cx="6279987" cy="6279987"/>
          </a:xfrm>
          <a:custGeom>
            <a:avLst/>
            <a:gdLst/>
            <a:ahLst/>
            <a:cxnLst/>
            <a:rect l="l" t="t" r="r" b="b"/>
            <a:pathLst>
              <a:path w="6279987" h="6279987">
                <a:moveTo>
                  <a:pt x="0" y="0"/>
                </a:moveTo>
                <a:lnTo>
                  <a:pt x="6279987" y="0"/>
                </a:lnTo>
                <a:lnTo>
                  <a:pt x="6279987" y="6279987"/>
                </a:lnTo>
                <a:lnTo>
                  <a:pt x="0" y="6279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6474321" y="0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8006028" y="3677712"/>
            <a:ext cx="10281972" cy="6609288"/>
          </a:xfrm>
          <a:custGeom>
            <a:avLst/>
            <a:gdLst/>
            <a:ahLst/>
            <a:cxnLst/>
            <a:rect l="l" t="t" r="r" b="b"/>
            <a:pathLst>
              <a:path w="10281972" h="6609288">
                <a:moveTo>
                  <a:pt x="0" y="0"/>
                </a:moveTo>
                <a:lnTo>
                  <a:pt x="10281972" y="0"/>
                </a:lnTo>
                <a:lnTo>
                  <a:pt x="10281972" y="6609288"/>
                </a:lnTo>
                <a:lnTo>
                  <a:pt x="0" y="66092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3" t="-1079" b="-425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0" y="-38100"/>
            <a:ext cx="8006028" cy="979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324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💨 Albuterol – £2.8M Revenue | £2.0M Profit Moderate margin, potential for cost optimization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endParaRPr lang="en-US" sz="3248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324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💊 Amlodipine – £2.5M Revenue | £2.2M Profit Stable performer with lean cost structure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endParaRPr lang="en-US" sz="3248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324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🧪 Aspirin – £2.2M Revenue | £2.2M Profit Break-even profile—zero cost or margin anomaly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endParaRPr lang="en-US" sz="3248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324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⚡ Amphetamine – £1.9M Revenue | £1.8M Prof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324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it Consistent margin, low volume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endParaRPr lang="en-US" sz="3248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324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🧫 Amoxicillin – Lowest revenue &amp; profit Underperforming—review pricing or demand strategy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14345" y="-3551284"/>
            <a:ext cx="6365081" cy="6365081"/>
          </a:xfrm>
          <a:custGeom>
            <a:avLst/>
            <a:gdLst/>
            <a:ahLst/>
            <a:cxnLst/>
            <a:rect l="l" t="t" r="r" b="b"/>
            <a:pathLst>
              <a:path w="6365081" h="6365081">
                <a:moveTo>
                  <a:pt x="0" y="0"/>
                </a:moveTo>
                <a:lnTo>
                  <a:pt x="6365081" y="0"/>
                </a:lnTo>
                <a:lnTo>
                  <a:pt x="6365081" y="6365081"/>
                </a:lnTo>
                <a:lnTo>
                  <a:pt x="0" y="6365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6102012" y="2813797"/>
            <a:ext cx="6279987" cy="6279987"/>
          </a:xfrm>
          <a:custGeom>
            <a:avLst/>
            <a:gdLst/>
            <a:ahLst/>
            <a:cxnLst/>
            <a:rect l="l" t="t" r="r" b="b"/>
            <a:pathLst>
              <a:path w="6279987" h="6279987">
                <a:moveTo>
                  <a:pt x="0" y="0"/>
                </a:moveTo>
                <a:lnTo>
                  <a:pt x="6279987" y="0"/>
                </a:lnTo>
                <a:lnTo>
                  <a:pt x="6279987" y="6279987"/>
                </a:lnTo>
                <a:lnTo>
                  <a:pt x="0" y="6279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6972156" y="0"/>
            <a:ext cx="1315844" cy="1028700"/>
          </a:xfrm>
          <a:custGeom>
            <a:avLst/>
            <a:gdLst/>
            <a:ahLst/>
            <a:cxnLst/>
            <a:rect l="l" t="t" r="r" b="b"/>
            <a:pathLst>
              <a:path w="1315844" h="1028700">
                <a:moveTo>
                  <a:pt x="0" y="0"/>
                </a:moveTo>
                <a:lnTo>
                  <a:pt x="1315844" y="0"/>
                </a:lnTo>
                <a:lnTo>
                  <a:pt x="131584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0" y="104423"/>
            <a:ext cx="9508977" cy="6265389"/>
          </a:xfrm>
          <a:custGeom>
            <a:avLst/>
            <a:gdLst/>
            <a:ahLst/>
            <a:cxnLst/>
            <a:rect l="l" t="t" r="r" b="b"/>
            <a:pathLst>
              <a:path w="9508977" h="6265389">
                <a:moveTo>
                  <a:pt x="0" y="0"/>
                </a:moveTo>
                <a:lnTo>
                  <a:pt x="9508977" y="0"/>
                </a:lnTo>
                <a:lnTo>
                  <a:pt x="9508977" y="6265389"/>
                </a:lnTo>
                <a:lnTo>
                  <a:pt x="0" y="62653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05" t="-1337" r="-109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0065312" y="1722895"/>
            <a:ext cx="8039233" cy="8564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🧑‍💼 John Brown: - Top contributor; focus on retention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  <a:endParaRPr lang="en-US" sz="364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🧑‍💼 John Smith: - High performer; maintain engagement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  <a:endParaRPr lang="en-US" sz="364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🧑‍💼 John Johnson: - Strong revenue; upsell potential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  <a:endParaRPr lang="en-US" sz="364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🧑‍💼 John Jones: - Reliable; ensure ongoing support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  <a:endParaRPr lang="en-US" sz="364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🧑‍💼 John Williams: - Valuable; pursue growth opportunities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14345" y="-3551284"/>
            <a:ext cx="6365081" cy="6365081"/>
          </a:xfrm>
          <a:custGeom>
            <a:avLst/>
            <a:gdLst/>
            <a:ahLst/>
            <a:cxnLst/>
            <a:rect l="l" t="t" r="r" b="b"/>
            <a:pathLst>
              <a:path w="6365081" h="6365081">
                <a:moveTo>
                  <a:pt x="0" y="0"/>
                </a:moveTo>
                <a:lnTo>
                  <a:pt x="6365081" y="0"/>
                </a:lnTo>
                <a:lnTo>
                  <a:pt x="6365081" y="6365081"/>
                </a:lnTo>
                <a:lnTo>
                  <a:pt x="0" y="6365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6102012" y="2813797"/>
            <a:ext cx="6279987" cy="6279987"/>
          </a:xfrm>
          <a:custGeom>
            <a:avLst/>
            <a:gdLst/>
            <a:ahLst/>
            <a:cxnLst/>
            <a:rect l="l" t="t" r="r" b="b"/>
            <a:pathLst>
              <a:path w="6279987" h="6279987">
                <a:moveTo>
                  <a:pt x="0" y="0"/>
                </a:moveTo>
                <a:lnTo>
                  <a:pt x="6279987" y="0"/>
                </a:lnTo>
                <a:lnTo>
                  <a:pt x="6279987" y="6279987"/>
                </a:lnTo>
                <a:lnTo>
                  <a:pt x="0" y="6279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6474321" y="0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7904082" y="3939428"/>
            <a:ext cx="10383918" cy="6347572"/>
          </a:xfrm>
          <a:custGeom>
            <a:avLst/>
            <a:gdLst/>
            <a:ahLst/>
            <a:cxnLst/>
            <a:rect l="l" t="t" r="r" b="b"/>
            <a:pathLst>
              <a:path w="10383918" h="6347572">
                <a:moveTo>
                  <a:pt x="0" y="0"/>
                </a:moveTo>
                <a:lnTo>
                  <a:pt x="10383918" y="0"/>
                </a:lnTo>
                <a:lnTo>
                  <a:pt x="10383918" y="6347572"/>
                </a:lnTo>
                <a:lnTo>
                  <a:pt x="0" y="6347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22" r="-1611" b="-5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0" y="-47625"/>
            <a:ext cx="7529201" cy="9764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👤 Alice Smith –Lowest of top-tier contributors, potential for upsell. 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  <a:endParaRPr lang="en-US" sz="364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👤 Alice Johnson – Stable mid-range performer, underleveraged.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👤 Alice Jones – Low revenue; needs engagement review. 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  <a:endParaRPr lang="en-US" sz="364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👤 Alice Brown– Like Jones, growth opportunities exist. 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  <a:endParaRPr lang="en-US" sz="364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👤 Alice Williams –Lowest revenue; focus on retention or reactivation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03583" y="6962098"/>
            <a:ext cx="7130028" cy="7130028"/>
          </a:xfrm>
          <a:custGeom>
            <a:avLst/>
            <a:gdLst/>
            <a:ahLst/>
            <a:cxnLst/>
            <a:rect l="l" t="t" r="r" b="b"/>
            <a:pathLst>
              <a:path w="7130028" h="7130028">
                <a:moveTo>
                  <a:pt x="0" y="0"/>
                </a:moveTo>
                <a:lnTo>
                  <a:pt x="7130028" y="0"/>
                </a:lnTo>
                <a:lnTo>
                  <a:pt x="7130028" y="7130028"/>
                </a:lnTo>
                <a:lnTo>
                  <a:pt x="0" y="7130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3675267" y="-4508267"/>
            <a:ext cx="7750827" cy="7750827"/>
          </a:xfrm>
          <a:custGeom>
            <a:avLst/>
            <a:gdLst/>
            <a:ahLst/>
            <a:cxnLst/>
            <a:rect l="l" t="t" r="r" b="b"/>
            <a:pathLst>
              <a:path w="7750827" h="7750827">
                <a:moveTo>
                  <a:pt x="0" y="0"/>
                </a:moveTo>
                <a:lnTo>
                  <a:pt x="7750827" y="0"/>
                </a:lnTo>
                <a:lnTo>
                  <a:pt x="7750827" y="7750826"/>
                </a:lnTo>
                <a:lnTo>
                  <a:pt x="0" y="7750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86048"/>
            <a:ext cx="16474321" cy="5535576"/>
          </a:xfrm>
          <a:custGeom>
            <a:avLst/>
            <a:gdLst/>
            <a:ahLst/>
            <a:cxnLst/>
            <a:rect l="l" t="t" r="r" b="b"/>
            <a:pathLst>
              <a:path w="16474321" h="5535576">
                <a:moveTo>
                  <a:pt x="0" y="0"/>
                </a:moveTo>
                <a:lnTo>
                  <a:pt x="16474321" y="0"/>
                </a:lnTo>
                <a:lnTo>
                  <a:pt x="16474321" y="5535576"/>
                </a:lnTo>
                <a:lnTo>
                  <a:pt x="0" y="55355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36" r="-968" b="-173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6474321" y="0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0" y="5685791"/>
            <a:ext cx="18288000" cy="4411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📈 January – £6.8M Revenue | £5.6M Profit Peak revenue month—strong start to Q1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8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💰 December &amp; May – £6.6M Revenue | £5.6M Profit Consistent high performance—seasonal strength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8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📊 October – £6.2M Revenue | £5.7M Profit Highest profit margin—efficient operations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8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📉 August &amp; February – Lower profit margins Review cost structure or demand dip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8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🔄 Overall Trend – Stable revenue, strong profitability Margins remain healthy across most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03583" y="6962098"/>
            <a:ext cx="7130028" cy="7130028"/>
          </a:xfrm>
          <a:custGeom>
            <a:avLst/>
            <a:gdLst/>
            <a:ahLst/>
            <a:cxnLst/>
            <a:rect l="l" t="t" r="r" b="b"/>
            <a:pathLst>
              <a:path w="7130028" h="7130028">
                <a:moveTo>
                  <a:pt x="0" y="0"/>
                </a:moveTo>
                <a:lnTo>
                  <a:pt x="7130028" y="0"/>
                </a:lnTo>
                <a:lnTo>
                  <a:pt x="7130028" y="7130028"/>
                </a:lnTo>
                <a:lnTo>
                  <a:pt x="0" y="7130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3675267" y="-4508267"/>
            <a:ext cx="7750827" cy="7750827"/>
          </a:xfrm>
          <a:custGeom>
            <a:avLst/>
            <a:gdLst/>
            <a:ahLst/>
            <a:cxnLst/>
            <a:rect l="l" t="t" r="r" b="b"/>
            <a:pathLst>
              <a:path w="7750827" h="7750827">
                <a:moveTo>
                  <a:pt x="0" y="0"/>
                </a:moveTo>
                <a:lnTo>
                  <a:pt x="7750827" y="0"/>
                </a:lnTo>
                <a:lnTo>
                  <a:pt x="7750827" y="7750826"/>
                </a:lnTo>
                <a:lnTo>
                  <a:pt x="0" y="7750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71073" y="0"/>
            <a:ext cx="11493698" cy="5784435"/>
          </a:xfrm>
          <a:custGeom>
            <a:avLst/>
            <a:gdLst/>
            <a:ahLst/>
            <a:cxnLst/>
            <a:rect l="l" t="t" r="r" b="b"/>
            <a:pathLst>
              <a:path w="11493698" h="5784435">
                <a:moveTo>
                  <a:pt x="0" y="0"/>
                </a:moveTo>
                <a:lnTo>
                  <a:pt x="11493699" y="0"/>
                </a:lnTo>
                <a:lnTo>
                  <a:pt x="11493699" y="5784435"/>
                </a:lnTo>
                <a:lnTo>
                  <a:pt x="0" y="5784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06" t="-1168" r="-250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6474321" y="0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1564772" y="4497706"/>
            <a:ext cx="6723228" cy="578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  <a:spcBef>
                <a:spcPct val="0"/>
              </a:spcBef>
            </a:pPr>
            <a:r>
              <a:rPr lang="en-US" sz="33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🇺🇸 United States: highest revenue concentration and strong demand </a:t>
            </a:r>
          </a:p>
          <a:p>
            <a:pPr algn="ctr">
              <a:lnSpc>
                <a:spcPts val="4125"/>
              </a:lnSpc>
              <a:spcBef>
                <a:spcPct val="0"/>
              </a:spcBef>
            </a:pPr>
            <a:endParaRPr lang="en-US" sz="33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125"/>
              </a:lnSpc>
              <a:spcBef>
                <a:spcPct val="0"/>
              </a:spcBef>
            </a:pPr>
            <a:r>
              <a:rPr lang="en-US" sz="33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📍 Hotspots: two key revenue hubs tied to distribution and clients </a:t>
            </a:r>
          </a:p>
          <a:p>
            <a:pPr algn="ctr">
              <a:lnSpc>
                <a:spcPts val="4125"/>
              </a:lnSpc>
              <a:spcBef>
                <a:spcPct val="0"/>
              </a:spcBef>
            </a:pPr>
            <a:endParaRPr lang="en-US" sz="33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125"/>
              </a:lnSpc>
              <a:spcBef>
                <a:spcPct val="0"/>
              </a:spcBef>
            </a:pPr>
            <a:r>
              <a:rPr lang="en-US" sz="33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🧭 North America focus: limited global reach, opportunity for expansion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92070" y="7025651"/>
            <a:ext cx="6522698" cy="6522698"/>
          </a:xfrm>
          <a:custGeom>
            <a:avLst/>
            <a:gdLst/>
            <a:ahLst/>
            <a:cxnLst/>
            <a:rect l="l" t="t" r="r" b="b"/>
            <a:pathLst>
              <a:path w="6522698" h="6522698">
                <a:moveTo>
                  <a:pt x="0" y="0"/>
                </a:moveTo>
                <a:lnTo>
                  <a:pt x="6522698" y="0"/>
                </a:lnTo>
                <a:lnTo>
                  <a:pt x="6522698" y="6522698"/>
                </a:lnTo>
                <a:lnTo>
                  <a:pt x="0" y="6522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2692773" y="-2401049"/>
            <a:ext cx="6232712" cy="6232712"/>
          </a:xfrm>
          <a:custGeom>
            <a:avLst/>
            <a:gdLst/>
            <a:ahLst/>
            <a:cxnLst/>
            <a:rect l="l" t="t" r="r" b="b"/>
            <a:pathLst>
              <a:path w="6232712" h="6232712">
                <a:moveTo>
                  <a:pt x="0" y="0"/>
                </a:moveTo>
                <a:lnTo>
                  <a:pt x="6232711" y="0"/>
                </a:lnTo>
                <a:lnTo>
                  <a:pt x="6232711" y="6232711"/>
                </a:lnTo>
                <a:lnTo>
                  <a:pt x="0" y="62327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9260437" y="2756468"/>
            <a:ext cx="9027563" cy="7530532"/>
          </a:xfrm>
          <a:custGeom>
            <a:avLst/>
            <a:gdLst/>
            <a:ahLst/>
            <a:cxnLst/>
            <a:rect l="l" t="t" r="r" b="b"/>
            <a:pathLst>
              <a:path w="9027563" h="7530532">
                <a:moveTo>
                  <a:pt x="0" y="0"/>
                </a:moveTo>
                <a:lnTo>
                  <a:pt x="9027563" y="0"/>
                </a:lnTo>
                <a:lnTo>
                  <a:pt x="9027563" y="7530532"/>
                </a:lnTo>
                <a:lnTo>
                  <a:pt x="0" y="753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156" r="-6490" b="-115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192830" y="7979560"/>
            <a:ext cx="5472394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u="none">
                <a:solidFill>
                  <a:srgbClr val="11263D"/>
                </a:solidFill>
                <a:latin typeface="Poppins"/>
                <a:ea typeface="Poppins"/>
                <a:cs typeface="Poppins"/>
                <a:sym typeface="Poppins"/>
              </a:rPr>
              <a:t>Ginyard ensures hospitals get what they need, on time and fully compliant.</a:t>
            </a:r>
          </a:p>
        </p:txBody>
      </p:sp>
      <p:sp>
        <p:nvSpPr>
          <p:cNvPr id="6" name="Freeform 6"/>
          <p:cNvSpPr/>
          <p:nvPr/>
        </p:nvSpPr>
        <p:spPr>
          <a:xfrm>
            <a:off x="18288000" y="1091867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6474321" y="0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0" y="-66675"/>
            <a:ext cx="8439475" cy="569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👨 Male – Largest revenue segment—key demographic</a:t>
            </a:r>
          </a:p>
          <a:p>
            <a:pPr algn="ctr">
              <a:lnSpc>
                <a:spcPts val="5000"/>
              </a:lnSpc>
              <a:spcBef>
                <a:spcPct val="0"/>
              </a:spcBef>
            </a:pPr>
            <a:endParaRPr lang="en-US" sz="40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👩 Female – Strong contributor—growth potential</a:t>
            </a:r>
          </a:p>
          <a:p>
            <a:pPr algn="ctr">
              <a:lnSpc>
                <a:spcPts val="5000"/>
              </a:lnSpc>
              <a:spcBef>
                <a:spcPct val="0"/>
              </a:spcBef>
            </a:pPr>
            <a:endParaRPr lang="en-US" sz="40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🧑‍🦱 Other – Emerging segment—opportunity for inclusion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3596" y="-7175016"/>
            <a:ext cx="15018636" cy="17695006"/>
          </a:xfrm>
          <a:custGeom>
            <a:avLst/>
            <a:gdLst/>
            <a:ahLst/>
            <a:cxnLst/>
            <a:rect l="l" t="t" r="r" b="b"/>
            <a:pathLst>
              <a:path w="15018636" h="17695006">
                <a:moveTo>
                  <a:pt x="0" y="0"/>
                </a:moveTo>
                <a:lnTo>
                  <a:pt x="15018637" y="0"/>
                </a:lnTo>
                <a:lnTo>
                  <a:pt x="15018637" y="17695005"/>
                </a:lnTo>
                <a:lnTo>
                  <a:pt x="0" y="17695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757295" y="7037832"/>
            <a:ext cx="7061410" cy="6964316"/>
          </a:xfrm>
          <a:custGeom>
            <a:avLst/>
            <a:gdLst/>
            <a:ahLst/>
            <a:cxnLst/>
            <a:rect l="l" t="t" r="r" b="b"/>
            <a:pathLst>
              <a:path w="7061410" h="6964316">
                <a:moveTo>
                  <a:pt x="0" y="0"/>
                </a:moveTo>
                <a:lnTo>
                  <a:pt x="7061410" y="0"/>
                </a:lnTo>
                <a:lnTo>
                  <a:pt x="7061410" y="6964315"/>
                </a:lnTo>
                <a:lnTo>
                  <a:pt x="0" y="6964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6356546" y="-3663168"/>
            <a:ext cx="5574908" cy="5574908"/>
          </a:xfrm>
          <a:custGeom>
            <a:avLst/>
            <a:gdLst/>
            <a:ahLst/>
            <a:cxnLst/>
            <a:rect l="l" t="t" r="r" b="b"/>
            <a:pathLst>
              <a:path w="5574908" h="5574908">
                <a:moveTo>
                  <a:pt x="0" y="0"/>
                </a:moveTo>
                <a:lnTo>
                  <a:pt x="5574908" y="0"/>
                </a:lnTo>
                <a:lnTo>
                  <a:pt x="5574908" y="5574908"/>
                </a:lnTo>
                <a:lnTo>
                  <a:pt x="0" y="5574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5858944" y="1343847"/>
            <a:ext cx="615377" cy="657278"/>
          </a:xfrm>
          <a:custGeom>
            <a:avLst/>
            <a:gdLst/>
            <a:ahLst/>
            <a:cxnLst/>
            <a:rect l="l" t="t" r="r" b="b"/>
            <a:pathLst>
              <a:path w="615377" h="657278">
                <a:moveTo>
                  <a:pt x="0" y="0"/>
                </a:moveTo>
                <a:lnTo>
                  <a:pt x="615377" y="0"/>
                </a:lnTo>
                <a:lnTo>
                  <a:pt x="615377" y="657279"/>
                </a:lnTo>
                <a:lnTo>
                  <a:pt x="0" y="65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0" y="1014980"/>
            <a:ext cx="10351258" cy="8642165"/>
          </a:xfrm>
          <a:custGeom>
            <a:avLst/>
            <a:gdLst/>
            <a:ahLst/>
            <a:cxnLst/>
            <a:rect l="l" t="t" r="r" b="b"/>
            <a:pathLst>
              <a:path w="10351258" h="8642165">
                <a:moveTo>
                  <a:pt x="0" y="0"/>
                </a:moveTo>
                <a:lnTo>
                  <a:pt x="10351258" y="0"/>
                </a:lnTo>
                <a:lnTo>
                  <a:pt x="10351258" y="8642165"/>
                </a:lnTo>
                <a:lnTo>
                  <a:pt x="0" y="86421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292" r="-1359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6474321" y="0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0351258" y="4201795"/>
            <a:ext cx="7936742" cy="608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🌟 Preferred Customer – £4.5K High-value segment—consistent top-tier spend</a:t>
            </a:r>
          </a:p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🆕 New Customer – £4.5K Strong initial engagement—promising acquisition strategy </a:t>
            </a:r>
          </a:p>
          <a:p>
            <a:pPr algn="ctr">
              <a:lnSpc>
                <a:spcPts val="4000"/>
              </a:lnSpc>
              <a:spcBef>
                <a:spcPct val="0"/>
              </a:spcBef>
            </a:pPr>
            <a:endParaRPr lang="en-US" sz="32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🔁 Frequent Buyer – £4.0K Loyal but lower spend—opportunity to increase market size </a:t>
            </a:r>
          </a:p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24951" y="-3920092"/>
            <a:ext cx="7840183" cy="7840183"/>
          </a:xfrm>
          <a:custGeom>
            <a:avLst/>
            <a:gdLst/>
            <a:ahLst/>
            <a:cxnLst/>
            <a:rect l="l" t="t" r="r" b="b"/>
            <a:pathLst>
              <a:path w="7840183" h="7840183">
                <a:moveTo>
                  <a:pt x="0" y="0"/>
                </a:moveTo>
                <a:lnTo>
                  <a:pt x="7840183" y="0"/>
                </a:lnTo>
                <a:lnTo>
                  <a:pt x="7840183" y="7840184"/>
                </a:lnTo>
                <a:lnTo>
                  <a:pt x="0" y="784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2771526" y="6710863"/>
            <a:ext cx="6806357" cy="6806357"/>
          </a:xfrm>
          <a:custGeom>
            <a:avLst/>
            <a:gdLst/>
            <a:ahLst/>
            <a:cxnLst/>
            <a:rect l="l" t="t" r="r" b="b"/>
            <a:pathLst>
              <a:path w="6806357" h="6806357">
                <a:moveTo>
                  <a:pt x="0" y="0"/>
                </a:moveTo>
                <a:lnTo>
                  <a:pt x="6806358" y="0"/>
                </a:lnTo>
                <a:lnTo>
                  <a:pt x="6806358" y="6806357"/>
                </a:lnTo>
                <a:lnTo>
                  <a:pt x="0" y="68063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7381161" y="9205532"/>
            <a:ext cx="357212" cy="357212"/>
          </a:xfrm>
          <a:custGeom>
            <a:avLst/>
            <a:gdLst/>
            <a:ahLst/>
            <a:cxnLst/>
            <a:rect l="l" t="t" r="r" b="b"/>
            <a:pathLst>
              <a:path w="357212" h="357212">
                <a:moveTo>
                  <a:pt x="0" y="0"/>
                </a:moveTo>
                <a:lnTo>
                  <a:pt x="357212" y="0"/>
                </a:lnTo>
                <a:lnTo>
                  <a:pt x="357212" y="357212"/>
                </a:lnTo>
                <a:lnTo>
                  <a:pt x="0" y="3572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6474321" y="0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7612703" y="2736180"/>
            <a:ext cx="10675297" cy="7550820"/>
          </a:xfrm>
          <a:custGeom>
            <a:avLst/>
            <a:gdLst/>
            <a:ahLst/>
            <a:cxnLst/>
            <a:rect l="l" t="t" r="r" b="b"/>
            <a:pathLst>
              <a:path w="10675297" h="7550820">
                <a:moveTo>
                  <a:pt x="0" y="0"/>
                </a:moveTo>
                <a:lnTo>
                  <a:pt x="10675297" y="0"/>
                </a:lnTo>
                <a:lnTo>
                  <a:pt x="10675297" y="7550820"/>
                </a:lnTo>
                <a:lnTo>
                  <a:pt x="0" y="75508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31653" y="670849"/>
            <a:ext cx="6607132" cy="525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👵 50+ Age Group—Most profitable segment—strong across all buyer types</a:t>
            </a:r>
          </a:p>
          <a:p>
            <a:pPr algn="ctr">
              <a:lnSpc>
                <a:spcPts val="3750"/>
              </a:lnSpc>
              <a:spcBef>
                <a:spcPct val="0"/>
              </a:spcBef>
            </a:pPr>
            <a:endParaRPr lang="en-US" sz="30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👨‍💼 30–49 Age Bracket - Balanced performance; slightly lower preferred spend.</a:t>
            </a:r>
          </a:p>
          <a:p>
            <a:pPr algn="ctr">
              <a:lnSpc>
                <a:spcPts val="3750"/>
              </a:lnSpc>
              <a:spcBef>
                <a:spcPct val="0"/>
              </a:spcBef>
            </a:pPr>
            <a:endParaRPr lang="en-US" sz="30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🧑 Under 30 Age Bracket - Lowest contribution—no premium engagement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3596" y="-7175016"/>
            <a:ext cx="15018636" cy="17695006"/>
          </a:xfrm>
          <a:custGeom>
            <a:avLst/>
            <a:gdLst/>
            <a:ahLst/>
            <a:cxnLst/>
            <a:rect l="l" t="t" r="r" b="b"/>
            <a:pathLst>
              <a:path w="15018636" h="17695006">
                <a:moveTo>
                  <a:pt x="0" y="0"/>
                </a:moveTo>
                <a:lnTo>
                  <a:pt x="15018637" y="0"/>
                </a:lnTo>
                <a:lnTo>
                  <a:pt x="15018637" y="17695005"/>
                </a:lnTo>
                <a:lnTo>
                  <a:pt x="0" y="17695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757295" y="7037832"/>
            <a:ext cx="7061410" cy="6964316"/>
          </a:xfrm>
          <a:custGeom>
            <a:avLst/>
            <a:gdLst/>
            <a:ahLst/>
            <a:cxnLst/>
            <a:rect l="l" t="t" r="r" b="b"/>
            <a:pathLst>
              <a:path w="7061410" h="6964316">
                <a:moveTo>
                  <a:pt x="0" y="0"/>
                </a:moveTo>
                <a:lnTo>
                  <a:pt x="7061410" y="0"/>
                </a:lnTo>
                <a:lnTo>
                  <a:pt x="7061410" y="6964315"/>
                </a:lnTo>
                <a:lnTo>
                  <a:pt x="0" y="6964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6356546" y="-3663168"/>
            <a:ext cx="5574908" cy="5574908"/>
          </a:xfrm>
          <a:custGeom>
            <a:avLst/>
            <a:gdLst/>
            <a:ahLst/>
            <a:cxnLst/>
            <a:rect l="l" t="t" r="r" b="b"/>
            <a:pathLst>
              <a:path w="5574908" h="5574908">
                <a:moveTo>
                  <a:pt x="0" y="0"/>
                </a:moveTo>
                <a:lnTo>
                  <a:pt x="5574908" y="0"/>
                </a:lnTo>
                <a:lnTo>
                  <a:pt x="5574908" y="5574908"/>
                </a:lnTo>
                <a:lnTo>
                  <a:pt x="0" y="5574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5858944" y="1343847"/>
            <a:ext cx="615377" cy="657278"/>
          </a:xfrm>
          <a:custGeom>
            <a:avLst/>
            <a:gdLst/>
            <a:ahLst/>
            <a:cxnLst/>
            <a:rect l="l" t="t" r="r" b="b"/>
            <a:pathLst>
              <a:path w="615377" h="657278">
                <a:moveTo>
                  <a:pt x="0" y="0"/>
                </a:moveTo>
                <a:lnTo>
                  <a:pt x="615377" y="0"/>
                </a:lnTo>
                <a:lnTo>
                  <a:pt x="615377" y="657279"/>
                </a:lnTo>
                <a:lnTo>
                  <a:pt x="0" y="65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6474321" y="0"/>
            <a:ext cx="1813679" cy="1417897"/>
          </a:xfrm>
          <a:custGeom>
            <a:avLst/>
            <a:gdLst/>
            <a:ahLst/>
            <a:cxnLst/>
            <a:rect l="l" t="t" r="r" b="b"/>
            <a:pathLst>
              <a:path w="1813679" h="1417897">
                <a:moveTo>
                  <a:pt x="0" y="0"/>
                </a:moveTo>
                <a:lnTo>
                  <a:pt x="1813679" y="0"/>
                </a:lnTo>
                <a:lnTo>
                  <a:pt x="1813679" y="1417897"/>
                </a:lnTo>
                <a:lnTo>
                  <a:pt x="0" y="14178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0" y="0"/>
            <a:ext cx="12481719" cy="8866587"/>
          </a:xfrm>
          <a:custGeom>
            <a:avLst/>
            <a:gdLst/>
            <a:ahLst/>
            <a:cxnLst/>
            <a:rect l="l" t="t" r="r" b="b"/>
            <a:pathLst>
              <a:path w="12481719" h="8866587">
                <a:moveTo>
                  <a:pt x="0" y="0"/>
                </a:moveTo>
                <a:lnTo>
                  <a:pt x="12481719" y="0"/>
                </a:lnTo>
                <a:lnTo>
                  <a:pt x="12481719" y="8866587"/>
                </a:lnTo>
                <a:lnTo>
                  <a:pt x="0" y="88665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2705723" y="3135654"/>
            <a:ext cx="5222917" cy="684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9"/>
              </a:lnSpc>
              <a:spcBef>
                <a:spcPct val="0"/>
              </a:spcBef>
            </a:pPr>
            <a:r>
              <a:rPr lang="en-US" sz="3499" b="1" spc="3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👵 50+ Age Group— Highest overall revenue—male segment leads</a:t>
            </a:r>
          </a:p>
          <a:p>
            <a:pPr algn="ctr">
              <a:lnSpc>
                <a:spcPts val="3849"/>
              </a:lnSpc>
              <a:spcBef>
                <a:spcPct val="0"/>
              </a:spcBef>
            </a:pPr>
            <a:endParaRPr lang="en-US" sz="3499" b="1" spc="34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849"/>
              </a:lnSpc>
              <a:spcBef>
                <a:spcPct val="0"/>
              </a:spcBef>
            </a:pPr>
            <a:r>
              <a:rPr lang="en-US" sz="3499" b="1" spc="3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👨‍💼 30–49 Age Bracket - Balanced performance—slight male lead.</a:t>
            </a:r>
          </a:p>
          <a:p>
            <a:pPr algn="ctr">
              <a:lnSpc>
                <a:spcPts val="3849"/>
              </a:lnSpc>
              <a:spcBef>
                <a:spcPct val="0"/>
              </a:spcBef>
            </a:pPr>
            <a:endParaRPr lang="en-US" sz="3499" b="1" spc="34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849"/>
              </a:lnSpc>
              <a:spcBef>
                <a:spcPct val="0"/>
              </a:spcBef>
            </a:pPr>
            <a:r>
              <a:rPr lang="en-US" sz="3499" b="1" spc="3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🧑 Under 30 Age Bracket - Lowest contribution—female segment strongest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25533" y="-4528042"/>
            <a:ext cx="7867535" cy="7867535"/>
          </a:xfrm>
          <a:custGeom>
            <a:avLst/>
            <a:gdLst/>
            <a:ahLst/>
            <a:cxnLst/>
            <a:rect l="l" t="t" r="r" b="b"/>
            <a:pathLst>
              <a:path w="7867535" h="7867535">
                <a:moveTo>
                  <a:pt x="0" y="0"/>
                </a:moveTo>
                <a:lnTo>
                  <a:pt x="7867534" y="0"/>
                </a:lnTo>
                <a:lnTo>
                  <a:pt x="7867534" y="7867534"/>
                </a:lnTo>
                <a:lnTo>
                  <a:pt x="0" y="786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3465476" y="7354596"/>
            <a:ext cx="7777879" cy="7777879"/>
          </a:xfrm>
          <a:custGeom>
            <a:avLst/>
            <a:gdLst/>
            <a:ahLst/>
            <a:cxnLst/>
            <a:rect l="l" t="t" r="r" b="b"/>
            <a:pathLst>
              <a:path w="7777879" h="7777879">
                <a:moveTo>
                  <a:pt x="0" y="0"/>
                </a:moveTo>
                <a:lnTo>
                  <a:pt x="7777879" y="0"/>
                </a:lnTo>
                <a:lnTo>
                  <a:pt x="7777879" y="7777879"/>
                </a:lnTo>
                <a:lnTo>
                  <a:pt x="0" y="77778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6390236" y="8859068"/>
            <a:ext cx="869064" cy="256374"/>
          </a:xfrm>
          <a:custGeom>
            <a:avLst/>
            <a:gdLst/>
            <a:ahLst/>
            <a:cxnLst/>
            <a:rect l="l" t="t" r="r" b="b"/>
            <a:pathLst>
              <a:path w="869064" h="256374">
                <a:moveTo>
                  <a:pt x="0" y="0"/>
                </a:moveTo>
                <a:lnTo>
                  <a:pt x="869064" y="0"/>
                </a:lnTo>
                <a:lnTo>
                  <a:pt x="869064" y="256374"/>
                </a:lnTo>
                <a:lnTo>
                  <a:pt x="0" y="256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028700" y="751608"/>
            <a:ext cx="277092" cy="277092"/>
          </a:xfrm>
          <a:custGeom>
            <a:avLst/>
            <a:gdLst/>
            <a:ahLst/>
            <a:cxnLst/>
            <a:rect l="l" t="t" r="r" b="b"/>
            <a:pathLst>
              <a:path w="277092" h="277092">
                <a:moveTo>
                  <a:pt x="0" y="0"/>
                </a:moveTo>
                <a:lnTo>
                  <a:pt x="277092" y="0"/>
                </a:lnTo>
                <a:lnTo>
                  <a:pt x="277092" y="277092"/>
                </a:lnTo>
                <a:lnTo>
                  <a:pt x="0" y="277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229372" y="3471787"/>
            <a:ext cx="10068253" cy="6735189"/>
          </a:xfrm>
          <a:custGeom>
            <a:avLst/>
            <a:gdLst/>
            <a:ahLst/>
            <a:cxnLst/>
            <a:rect l="l" t="t" r="r" b="b"/>
            <a:pathLst>
              <a:path w="10068253" h="6735189">
                <a:moveTo>
                  <a:pt x="0" y="0"/>
                </a:moveTo>
                <a:lnTo>
                  <a:pt x="10068253" y="0"/>
                </a:lnTo>
                <a:lnTo>
                  <a:pt x="10068253" y="6735189"/>
                </a:lnTo>
                <a:lnTo>
                  <a:pt x="0" y="67351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9" r="-2024" b="-423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7326594" y="0"/>
            <a:ext cx="961406" cy="751608"/>
          </a:xfrm>
          <a:custGeom>
            <a:avLst/>
            <a:gdLst/>
            <a:ahLst/>
            <a:cxnLst/>
            <a:rect l="l" t="t" r="r" b="b"/>
            <a:pathLst>
              <a:path w="961406" h="751608">
                <a:moveTo>
                  <a:pt x="0" y="0"/>
                </a:moveTo>
                <a:lnTo>
                  <a:pt x="961406" y="0"/>
                </a:lnTo>
                <a:lnTo>
                  <a:pt x="961406" y="751608"/>
                </a:lnTo>
                <a:lnTo>
                  <a:pt x="0" y="7516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0718028" y="1028700"/>
            <a:ext cx="6369822" cy="967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● Canada - Top-performing market with a diverse buyer mix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● Australia 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 Second-highest revenue with stable segmentation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● Germany - Evenly distributed, low total revenue—growth potential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● United Kingdom - Balanced but modest; review engagement strategy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● France - Opportunity to increase buyer conversion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● United States - Lowest revenue, underperforming; reassess market approach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924916"/>
            <a:ext cx="12720663" cy="7362084"/>
          </a:xfrm>
          <a:custGeom>
            <a:avLst/>
            <a:gdLst/>
            <a:ahLst/>
            <a:cxnLst/>
            <a:rect l="l" t="t" r="r" b="b"/>
            <a:pathLst>
              <a:path w="12720663" h="7362084">
                <a:moveTo>
                  <a:pt x="0" y="0"/>
                </a:moveTo>
                <a:lnTo>
                  <a:pt x="12720663" y="0"/>
                </a:lnTo>
                <a:lnTo>
                  <a:pt x="12720663" y="7362084"/>
                </a:lnTo>
                <a:lnTo>
                  <a:pt x="0" y="7362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4159138" y="737223"/>
            <a:ext cx="3685723" cy="716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🧪 Top products drive profit. 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🔻 Bottom products need review.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👤 Few customers dominate sales. 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🌍 UK leads, others lag. 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📅 Revenue is steady; monitor for changes.</a:t>
            </a:r>
          </a:p>
        </p:txBody>
      </p:sp>
      <p:sp>
        <p:nvSpPr>
          <p:cNvPr id="4" name="Freeform 4"/>
          <p:cNvSpPr/>
          <p:nvPr/>
        </p:nvSpPr>
        <p:spPr>
          <a:xfrm>
            <a:off x="17259300" y="0"/>
            <a:ext cx="1028700" cy="804217"/>
          </a:xfrm>
          <a:custGeom>
            <a:avLst/>
            <a:gdLst/>
            <a:ahLst/>
            <a:cxnLst/>
            <a:rect l="l" t="t" r="r" b="b"/>
            <a:pathLst>
              <a:path w="1028700" h="804217">
                <a:moveTo>
                  <a:pt x="0" y="0"/>
                </a:moveTo>
                <a:lnTo>
                  <a:pt x="1028700" y="0"/>
                </a:lnTo>
                <a:lnTo>
                  <a:pt x="1028700" y="804217"/>
                </a:lnTo>
                <a:lnTo>
                  <a:pt x="0" y="804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012615"/>
            <a:ext cx="14453074" cy="8274385"/>
          </a:xfrm>
          <a:custGeom>
            <a:avLst/>
            <a:gdLst/>
            <a:ahLst/>
            <a:cxnLst/>
            <a:rect l="l" t="t" r="r" b="b"/>
            <a:pathLst>
              <a:path w="14453074" h="8274385">
                <a:moveTo>
                  <a:pt x="0" y="0"/>
                </a:moveTo>
                <a:lnTo>
                  <a:pt x="14453074" y="0"/>
                </a:lnTo>
                <a:lnTo>
                  <a:pt x="14453074" y="8274385"/>
                </a:lnTo>
                <a:lnTo>
                  <a:pt x="0" y="8274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4453074" y="95250"/>
            <a:ext cx="3834926" cy="1009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💰 Strong revenue, lean costs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📈 High profit, healthy margin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👥 Solid customer base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👨 Dominant male segment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🇬🇧 UK leads market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🔁 Frequent buyers spend more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👵 Older age group drives value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🌍 UK + older males = top segment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028700" cy="804217"/>
          </a:xfrm>
          <a:custGeom>
            <a:avLst/>
            <a:gdLst/>
            <a:ahLst/>
            <a:cxnLst/>
            <a:rect l="l" t="t" r="r" b="b"/>
            <a:pathLst>
              <a:path w="1028700" h="804217">
                <a:moveTo>
                  <a:pt x="0" y="0"/>
                </a:moveTo>
                <a:lnTo>
                  <a:pt x="1028700" y="0"/>
                </a:lnTo>
                <a:lnTo>
                  <a:pt x="1028700" y="804217"/>
                </a:lnTo>
                <a:lnTo>
                  <a:pt x="0" y="804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85010" y="95250"/>
            <a:ext cx="1402990" cy="1096829"/>
          </a:xfrm>
          <a:custGeom>
            <a:avLst/>
            <a:gdLst/>
            <a:ahLst/>
            <a:cxnLst/>
            <a:rect l="l" t="t" r="r" b="b"/>
            <a:pathLst>
              <a:path w="1402990" h="1096829">
                <a:moveTo>
                  <a:pt x="0" y="0"/>
                </a:moveTo>
                <a:lnTo>
                  <a:pt x="1402990" y="0"/>
                </a:lnTo>
                <a:lnTo>
                  <a:pt x="1402990" y="1096829"/>
                </a:lnTo>
                <a:lnTo>
                  <a:pt x="0" y="1096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5221293" y="95250"/>
            <a:ext cx="8806816" cy="1051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🔁 Prioritize Frequent Buyers: Focus loyalty efforts on this high-revenue group.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👴 Target Older Males: Tailor messaging and offers to profit-driven customers.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🇬🇧 Strengthen the UK Market: Scale successful strategies in your strongest region.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🧪 Phase Out Weak Products: Discontinue underperforming items to free up resources.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🆕 Enhance New Customer Value: Introduce upselling opportunities to increase spending.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3000" b="1" spc="3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📅 Adjust for Seasonal Dips: Plan promotions to address identified periods of low sales.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85010" y="95250"/>
            <a:ext cx="1402990" cy="1096829"/>
          </a:xfrm>
          <a:custGeom>
            <a:avLst/>
            <a:gdLst/>
            <a:ahLst/>
            <a:cxnLst/>
            <a:rect l="l" t="t" r="r" b="b"/>
            <a:pathLst>
              <a:path w="1402990" h="1096829">
                <a:moveTo>
                  <a:pt x="0" y="0"/>
                </a:moveTo>
                <a:lnTo>
                  <a:pt x="1402990" y="0"/>
                </a:lnTo>
                <a:lnTo>
                  <a:pt x="1402990" y="1096829"/>
                </a:lnTo>
                <a:lnTo>
                  <a:pt x="0" y="1096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6707832" y="4622800"/>
            <a:ext cx="4872335" cy="105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6999" b="1" spc="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799</Words>
  <Application>Microsoft Office PowerPoint</Application>
  <PresentationFormat>Custom</PresentationFormat>
  <Paragraphs>143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Poppins</vt:lpstr>
      <vt:lpstr>Calibri</vt:lpstr>
      <vt:lpstr>Arial</vt:lpstr>
      <vt:lpstr>Canva Sans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Teal and Dark Blue Corporate Medical Presentation</dc:title>
  <cp:lastModifiedBy>TOBILOBA ADENIYI</cp:lastModifiedBy>
  <cp:revision>1</cp:revision>
  <dcterms:created xsi:type="dcterms:W3CDTF">2006-08-16T00:00:00Z</dcterms:created>
  <dcterms:modified xsi:type="dcterms:W3CDTF">2025-09-28T16:01:10Z</dcterms:modified>
  <dc:identifier>DAG0HXgTMGY</dc:identifier>
</cp:coreProperties>
</file>